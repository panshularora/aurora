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1993392"/>
            <a:ext cx="6675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D1B2A"/>
                </a:solidFill>
                <a:latin typeface="Cambria"/>
              </a:rPr>
              <a:t>AURORA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05456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1B2A3B"/>
                </a:solidFill>
                <a:latin typeface="Calibri"/>
              </a:rPr>
              <a:t>Black-Start Microgrid — Autonomous Power Grid Restoration via Hybrid Renewable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03580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7C86"/>
                </a:solidFill>
                <a:latin typeface="Calibri"/>
              </a:rPr>
              <a:t>Team VoltForge  ·  Problem Statement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25296" y="334670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Calibri"/>
              </a:rPr>
              <a:t>Solar PV · 500 kWp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8608" y="334670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Calibri"/>
              </a:rPr>
              <a:t>Wind · 300 kW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334670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Calibri"/>
              </a:rPr>
              <a:t>Geothermal · 200 kW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85232" y="334670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Calibri"/>
              </a:rPr>
              <a:t>Hydrogen · 150 kW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8544" y="334670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FFFFFF"/>
                </a:solidFill>
                <a:latin typeface="Calibri"/>
              </a:rPr>
              <a:t>Storage · 2 MWh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ro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6933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E7C86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4677"/>
            <a:ext cx="8321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D1B2A"/>
                </a:solidFill>
                <a:latin typeface="Cambria"/>
              </a:rPr>
              <a:t>Power Grid Failures &amp; the Black-Start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5301"/>
            <a:ext cx="8321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Operating Condition 3: Power grid failure due to infrastructure damage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39621"/>
            <a:ext cx="5074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mbria"/>
              </a:rPr>
              <a:t>What Is a Black-Start?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95653"/>
            <a:ext cx="5074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64748B"/>
                </a:solidFill>
                <a:latin typeface="Calibri"/>
              </a:rPr>
              <a:t>Restoring a power grid from a fully de-energized state with no external supply. Conventional methods need diesel gensets or hydro — geographically fixed, fuel-dependent, and incompatible with net-zero goals.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08301"/>
            <a:ext cx="5074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mbria"/>
              </a:rPr>
              <a:t>The Inverter Paradox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64333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64748B"/>
                </a:solidFill>
                <a:latin typeface="Calibri"/>
              </a:rPr>
              <a:t>IEEE 1547-2018 forces solar/wind inverters to disconnect during abnormal voltage or frequency — exactly the state during a black-start. As grids add renewables, they get harder to restart: 60+ nations will exceed 50% renewable penetration by 2030 (IRENA).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22701"/>
            <a:ext cx="5074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mbria"/>
              </a:rPr>
              <a:t>Why Diesel Fails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69589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B45309"/>
                </a:solidFill>
                <a:latin typeface="Calibri"/>
              </a:rPr>
              <a:t>$0.30–0.50/kWh LCOE  ·  8–15 min startup delay  ·  500–800 gCO₂/kWh  ·  fuel-chain failure risk  ·  incompatible with net-zero targets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539621"/>
            <a:ext cx="1380744" cy="868680"/>
          </a:xfrm>
          <a:prstGeom prst="roundRect">
            <a:avLst>
              <a:gd name="adj" fmla="val 10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631061"/>
            <a:ext cx="1380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E7C86"/>
                </a:solidFill>
                <a:latin typeface="Cambria"/>
              </a:rPr>
              <a:t>1.2B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4" y="2042541"/>
            <a:ext cx="12710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people without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reliable electricity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1776" y="1539621"/>
            <a:ext cx="1380744" cy="868680"/>
          </a:xfrm>
          <a:prstGeom prst="roundRect">
            <a:avLst>
              <a:gd name="adj" fmla="val 10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1776" y="1631061"/>
            <a:ext cx="1380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E7C86"/>
                </a:solidFill>
                <a:latin typeface="Cambria"/>
              </a:rPr>
              <a:t>$280B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042541"/>
            <a:ext cx="12710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economic damage from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weather events, 2021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545461"/>
            <a:ext cx="1380744" cy="868680"/>
          </a:xfrm>
          <a:prstGeom prst="roundRect">
            <a:avLst>
              <a:gd name="adj" fmla="val 10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636901"/>
            <a:ext cx="1380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E7C86"/>
                </a:solidFill>
                <a:latin typeface="Cambria"/>
              </a:rPr>
              <a:t>50+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3048381"/>
            <a:ext cx="12710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outage hours / year,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South Asia avg.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6" y="2545461"/>
            <a:ext cx="1380744" cy="868680"/>
          </a:xfrm>
          <a:prstGeom prst="roundRect">
            <a:avLst>
              <a:gd name="adj" fmla="val 10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1776" y="2636901"/>
            <a:ext cx="1380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E7C86"/>
                </a:solidFill>
                <a:latin typeface="Cambria"/>
              </a:rPr>
              <a:t>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048381"/>
            <a:ext cx="12710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days to restore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Puerto Rico, 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7777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Team VoltForge  ·  AURORA  ·  Hybrid Hack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77774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6933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E7C86"/>
                </a:solidFill>
                <a:latin typeface="Calibri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4677"/>
            <a:ext cx="8321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D1B2A"/>
                </a:solidFill>
                <a:latin typeface="Cambria"/>
              </a:rPr>
              <a:t>AURORA: System Design &amp;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5301"/>
            <a:ext cx="8321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A hybrid renewable microgrid that performs black-start with no external grid reference and no diesel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39621"/>
            <a:ext cx="4160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mbria"/>
              </a:rPr>
              <a:t>What AURORA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13941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mbria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13941"/>
            <a:ext cx="3867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1B2A3B"/>
                </a:solidFill>
                <a:latin typeface="Calibri"/>
              </a:rPr>
              <a:t>Establishes a 400V / 50Hz bus from battery alone — no external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34565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mbria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34565"/>
            <a:ext cx="3867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1B2A3B"/>
                </a:solidFill>
                <a:latin typeface="Calibri"/>
              </a:rPr>
              <a:t>Reaches stable operation in under 90 seconds from a dead 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5189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mbria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55189"/>
            <a:ext cx="3867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1B2A3B"/>
                </a:solidFill>
                <a:latin typeface="Calibri"/>
              </a:rPr>
              <a:t>Reconnects hospitals and critical loads within the first 30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75813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mbria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075813"/>
            <a:ext cx="3867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1B2A3B"/>
                </a:solidFill>
                <a:latin typeface="Calibri"/>
              </a:rPr>
              <a:t>Brings all five generation sources online in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96437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mbria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496437"/>
            <a:ext cx="3867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1B2A3B"/>
                </a:solidFill>
                <a:latin typeface="Calibri"/>
              </a:rPr>
              <a:t>Transitions to fully optimized multi-source dispatch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539621"/>
            <a:ext cx="1143000" cy="18288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759077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mbria"/>
              </a:rPr>
              <a:t>Multi-Source Hybrid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960245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Solar + Wind + Geothermal + Hydrogen + Storage — complementary profiles eliminate dependence on any single source.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307717"/>
            <a:ext cx="1143000" cy="18288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527173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mbria"/>
              </a:rPr>
              <a:t>Grid-Forming Inverter + VSG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728341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Virtual Synchronous Generator emulation provides H=5–10s synthetic inertia, preventing frequency collapse in low-inertia islanded grids.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3075813"/>
            <a:ext cx="1143000" cy="18288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95269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mbria"/>
              </a:rPr>
              <a:t>Dual-Chemistry Battery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496437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Li-ion (1,200 kWh, &lt;100ms response) + VRFB (800 kWh, 8h sustained). Cold-start from as low as 15% SoC.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3843909"/>
            <a:ext cx="1143000" cy="18288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063365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mbria"/>
              </a:rPr>
              <a:t>3-Tier Hierarchical 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264533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Primary droop control (&lt;100ms), secondary frequency restoration (1–30s), tertiary MPC optimal dispatch (&gt;30s).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7777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Team VoltForge  ·  AURORA  ·  Hybrid Hack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77774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6933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E7C86"/>
                </a:solidFill>
                <a:latin typeface="Calibri"/>
              </a:rPr>
              <a:t>ENERGY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4677"/>
            <a:ext cx="8321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D1B2A"/>
                </a:solidFill>
                <a:latin typeface="Cambria"/>
              </a:rPr>
              <a:t>Five Complementary Renewable Energy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5301"/>
            <a:ext cx="8321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Each source covers a different operating condition — together they guarantee continuous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39621"/>
            <a:ext cx="1547164" cy="288036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39621"/>
            <a:ext cx="1547164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67637"/>
            <a:ext cx="13642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1B2A"/>
                </a:solidFill>
                <a:latin typeface="Cambria"/>
              </a:rPr>
              <a:t>Solar PV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3125"/>
            <a:ext cx="13642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1" i="0">
                <a:solidFill>
                  <a:srgbClr val="0E7C86"/>
                </a:solidFill>
                <a:latin typeface="Calibri"/>
              </a:rPr>
              <a:t>500 kWp · 22.8% eff. · ~800 MWh/yr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5189"/>
            <a:ext cx="13642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64748B"/>
                </a:solidFill>
                <a:latin typeface="Calibri"/>
              </a:rPr>
              <a:t>Primary daytime generation; grid-forming inverter establishes initial bus voltage on startup.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4948" y="1539621"/>
            <a:ext cx="1547164" cy="288036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4948" y="1539621"/>
            <a:ext cx="1547164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6388" y="1667637"/>
            <a:ext cx="13642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1B2A"/>
                </a:solidFill>
                <a:latin typeface="Cambria"/>
              </a:rPr>
              <a:t>Wind Turbines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6388" y="2143125"/>
            <a:ext cx="13642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1" i="0">
                <a:solidFill>
                  <a:srgbClr val="0E7C86"/>
                </a:solidFill>
                <a:latin typeface="Calibri"/>
              </a:rPr>
              <a:t>3×100 kW DFIG · ~35% CF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6388" y="2655189"/>
            <a:ext cx="13642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64748B"/>
                </a:solidFill>
                <a:latin typeface="Calibri"/>
              </a:rPr>
              <a:t>Complements solar — peaks at night &amp; winter, raising combined CF to ~55% vs 22% solar-only.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8417" y="1539621"/>
            <a:ext cx="1547164" cy="288036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8417" y="1539621"/>
            <a:ext cx="1547164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9857" y="1667637"/>
            <a:ext cx="13642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1B2A"/>
                </a:solidFill>
                <a:latin typeface="Cambria"/>
              </a:rPr>
              <a:t>Geothermal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9857" y="2143125"/>
            <a:ext cx="13642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1" i="0">
                <a:solidFill>
                  <a:srgbClr val="0E7C86"/>
                </a:solidFill>
                <a:latin typeface="Calibri"/>
              </a:rPr>
              <a:t>200 kW binary · 90%+ CF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9857" y="2655189"/>
            <a:ext cx="13642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64748B"/>
                </a:solidFill>
                <a:latin typeface="Calibri"/>
              </a:rPr>
              <a:t>Constant baseload floor, weather-independent — critical for overnight &amp; cloudy-period reliability.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91886" y="1539621"/>
            <a:ext cx="1547164" cy="288036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91886" y="1539621"/>
            <a:ext cx="1547164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83326" y="1667637"/>
            <a:ext cx="13642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1B2A"/>
                </a:solidFill>
                <a:latin typeface="Cambria"/>
              </a:rPr>
              <a:t>Hydrogen (PEM)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3326" y="2143125"/>
            <a:ext cx="13642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1" i="0">
                <a:solidFill>
                  <a:srgbClr val="0E7C86"/>
                </a:solidFill>
                <a:latin typeface="Calibri"/>
              </a:rPr>
              <a:t>150 kW · seasonal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3326" y="2655189"/>
            <a:ext cx="13642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64748B"/>
                </a:solidFill>
                <a:latin typeface="Calibri"/>
              </a:rPr>
              <a:t>Stores surplus renewable energy as green H₂, dispatches during multi-day low-wind/solar doldrums.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85355" y="1539621"/>
            <a:ext cx="1547164" cy="288036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85355" y="1539621"/>
            <a:ext cx="1547164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6795" y="1667637"/>
            <a:ext cx="13642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1B2A"/>
                </a:solidFill>
                <a:latin typeface="Cambria"/>
              </a:rPr>
              <a:t>Hybrid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6795" y="2143125"/>
            <a:ext cx="13642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1" i="0">
                <a:solidFill>
                  <a:srgbClr val="0E7C86"/>
                </a:solidFill>
                <a:latin typeface="Calibri"/>
              </a:rPr>
              <a:t>Li-ion 1.2MWh + VRFB 0.8MWh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6795" y="2655189"/>
            <a:ext cx="13642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64748B"/>
                </a:solidFill>
                <a:latin typeface="Calibri"/>
              </a:rPr>
              <a:t>Black-start from 15% SoC. Li-ion for &lt;100ms transients; VRFB for 8h sustained delivery.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7777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Team VoltForge  ·  AURORA  ·  Hybrid Hack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77774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6933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E7C86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4677"/>
            <a:ext cx="8321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D1B2A"/>
                </a:solidFill>
                <a:latin typeface="Cambria"/>
              </a:rPr>
              <a:t>AURORA Architecture: Power &amp;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5301"/>
            <a:ext cx="1965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265301"/>
            <a:ext cx="2148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265301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DISTRIBUTION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1484757"/>
            <a:ext cx="1965960" cy="0"/>
          </a:xfrm>
          <a:prstGeom prst="line">
            <a:avLst/>
          </a:prstGeom>
          <a:ln w="12700">
            <a:solidFill>
              <a:srgbClr val="D1D5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1484757"/>
            <a:ext cx="2148840" cy="0"/>
          </a:xfrm>
          <a:prstGeom prst="line">
            <a:avLst/>
          </a:prstGeom>
          <a:ln w="12700">
            <a:solidFill>
              <a:srgbClr val="D1D5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23560" y="1484757"/>
            <a:ext cx="3108960" cy="0"/>
          </a:xfrm>
          <a:prstGeom prst="line">
            <a:avLst/>
          </a:prstGeom>
          <a:ln w="12700">
            <a:solidFill>
              <a:srgbClr val="D1D5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" y="1631061"/>
            <a:ext cx="1965960" cy="457200"/>
          </a:xfrm>
          <a:prstGeom prst="roundRect">
            <a:avLst>
              <a:gd name="adj" fmla="val 1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31061"/>
            <a:ext cx="18196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/>
            </a:r>
            <a:r>
              <a:rPr b="1" sz="1050">
                <a:solidFill>
                  <a:srgbClr val="FFFFFF"/>
                </a:solidFill>
                <a:latin typeface="Calibri"/>
              </a:rPr>
              <a:t>Solar PV</a:t>
            </a:r>
            <a:r>
              <a:rPr sz="900">
                <a:solidFill>
                  <a:srgbClr val="FFFFFF"/>
                </a:solidFill>
                <a:latin typeface="Calibri"/>
              </a:rPr>
              <a:t>  ·  500 kWp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71985"/>
            <a:ext cx="1965960" cy="457200"/>
          </a:xfrm>
          <a:prstGeom prst="roundRect">
            <a:avLst>
              <a:gd name="adj" fmla="val 18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171985"/>
            <a:ext cx="18196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/>
            </a:r>
            <a:r>
              <a:rPr b="1" sz="1050">
                <a:solidFill>
                  <a:srgbClr val="FFFFFF"/>
                </a:solidFill>
                <a:latin typeface="Calibri"/>
              </a:rPr>
              <a:t>Wind</a:t>
            </a:r>
            <a:r>
              <a:rPr sz="900">
                <a:solidFill>
                  <a:srgbClr val="FFFFFF"/>
                </a:solidFill>
                <a:latin typeface="Calibri"/>
              </a:rPr>
              <a:t>  ·  300 kW DFIG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712910"/>
            <a:ext cx="1965960" cy="457200"/>
          </a:xfrm>
          <a:prstGeom prst="roundRect">
            <a:avLst>
              <a:gd name="adj" fmla="val 1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12910"/>
            <a:ext cx="18196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/>
            </a:r>
            <a:r>
              <a:rPr b="1" sz="1050">
                <a:solidFill>
                  <a:srgbClr val="FFFFFF"/>
                </a:solidFill>
                <a:latin typeface="Calibri"/>
              </a:rPr>
              <a:t>Geothermal</a:t>
            </a:r>
            <a:r>
              <a:rPr sz="900">
                <a:solidFill>
                  <a:srgbClr val="FFFFFF"/>
                </a:solidFill>
                <a:latin typeface="Calibri"/>
              </a:rPr>
              <a:t>  ·  200 kW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253835"/>
            <a:ext cx="1965960" cy="457200"/>
          </a:xfrm>
          <a:prstGeom prst="roundRect">
            <a:avLst>
              <a:gd name="adj" fmla="val 18000"/>
            </a:avLst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253835"/>
            <a:ext cx="18196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/>
            </a:r>
            <a:r>
              <a:rPr b="1" sz="1050">
                <a:solidFill>
                  <a:srgbClr val="FFFFFF"/>
                </a:solidFill>
                <a:latin typeface="Calibri"/>
              </a:rPr>
              <a:t>H₂ Fuel Cell</a:t>
            </a:r>
            <a:r>
              <a:rPr sz="900">
                <a:solidFill>
                  <a:srgbClr val="FFFFFF"/>
                </a:solidFill>
                <a:latin typeface="Calibri"/>
              </a:rPr>
              <a:t>  ·  150 kW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794760"/>
            <a:ext cx="1965960" cy="457200"/>
          </a:xfrm>
          <a:prstGeom prst="roundRect">
            <a:avLst>
              <a:gd name="adj" fmla="val 18000"/>
            </a:avLst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794760"/>
            <a:ext cx="18196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/>
            </a:r>
            <a:r>
              <a:rPr b="1" sz="1050">
                <a:solidFill>
                  <a:srgbClr val="FFFFFF"/>
                </a:solidFill>
                <a:latin typeface="Calibri"/>
              </a:rPr>
              <a:t>Hybrid Storage</a:t>
            </a:r>
            <a:r>
              <a:rPr sz="900">
                <a:solidFill>
                  <a:srgbClr val="FFFFFF"/>
                </a:solidFill>
                <a:latin typeface="Calibri"/>
              </a:rPr>
              <a:t>  ·  2 MWh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1859661"/>
            <a:ext cx="182880" cy="2163699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377440" y="1859661.0"/>
            <a:ext cx="2560320" cy="0.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7440" y="2400585.75"/>
            <a:ext cx="2560320" cy="0.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77440" y="2941510.5"/>
            <a:ext cx="2560320" cy="0.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77440" y="3482435.25"/>
            <a:ext cx="2560320" cy="0.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77440" y="4023360.0"/>
            <a:ext cx="2560320" cy="0.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926080" y="1676781"/>
            <a:ext cx="2148840" cy="123444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54096" y="1786509"/>
            <a:ext cx="1892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Grid-Forming Inverter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(VSG Emulation)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54096" y="2353437"/>
            <a:ext cx="18928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12A4B0"/>
                </a:solidFill>
                <a:latin typeface="Calibri"/>
              </a:rPr>
              <a:t>400V / 50Hz / 1.2 MVA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12A4B0"/>
                </a:solidFill>
                <a:latin typeface="Calibri"/>
              </a:rPr>
              <a:t>H = 5–10s synthetic inertia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3112389"/>
            <a:ext cx="2148840" cy="1139571"/>
          </a:xfrm>
          <a:prstGeom prst="roundRect">
            <a:avLst>
              <a:gd name="adj" fmla="val 6000"/>
            </a:avLst>
          </a:prstGeom>
          <a:solidFill>
            <a:srgbClr val="1B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54096" y="3203829"/>
            <a:ext cx="1892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EMS 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54096" y="3533013"/>
            <a:ext cx="1892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69" b="0" i="0">
                <a:solidFill>
                  <a:srgbClr val="CBD7E0"/>
                </a:solidFill>
                <a:latin typeface="Calibri"/>
              </a:rPr>
              <a:t>Primary: droop control &lt;100ms</a:t>
            </a:r>
          </a:p>
          <a:p>
            <a:pPr algn="ctr">
              <a:lnSpc>
                <a:spcPct val="115000"/>
              </a:lnSpc>
            </a:pPr>
            <a:r>
              <a:rPr sz="869" b="0" i="0">
                <a:solidFill>
                  <a:srgbClr val="CBD7E0"/>
                </a:solidFill>
                <a:latin typeface="Calibri"/>
              </a:rPr>
              <a:t>Secondary: freq. restore 1–30s</a:t>
            </a:r>
          </a:p>
          <a:p>
            <a:pPr algn="ctr">
              <a:lnSpc>
                <a:spcPct val="115000"/>
              </a:lnSpc>
            </a:pPr>
            <a:r>
              <a:rPr sz="869" b="0" i="0">
                <a:solidFill>
                  <a:srgbClr val="CBD7E0"/>
                </a:solidFill>
                <a:latin typeface="Calibri"/>
              </a:rPr>
              <a:t>Tertiary: MPC dispatch &gt;30s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00500.0" y="2911221"/>
            <a:ext cx="0.0" cy="201168"/>
          </a:xfrm>
          <a:prstGeom prst="line">
            <a:avLst/>
          </a:prstGeom>
          <a:ln w="19050">
            <a:solidFill>
              <a:srgbClr val="B453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623560" y="1631061"/>
            <a:ext cx="3108960" cy="566928"/>
          </a:xfrm>
          <a:prstGeom prst="roundRect">
            <a:avLst>
              <a:gd name="adj" fmla="val 12000"/>
            </a:avLst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1631061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/>
            </a:r>
            <a:r>
              <a:rPr b="1" sz="1050">
                <a:solidFill>
                  <a:srgbClr val="FFFFFF"/>
                </a:solidFill>
                <a:latin typeface="Calibri"/>
              </a:rPr>
              <a:t>Critical Loads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Hospitals · Emergency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3560" y="2315718"/>
            <a:ext cx="3108960" cy="566928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2315718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/>
            </a:r>
            <a:r>
              <a:rPr b="1" sz="1050">
                <a:solidFill>
                  <a:srgbClr val="FFFFFF"/>
                </a:solidFill>
                <a:latin typeface="Calibri"/>
              </a:rPr>
              <a:t>Community Loads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Residential · Commercial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3000375"/>
            <a:ext cx="3108960" cy="566928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3000375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/>
            </a:r>
            <a:r>
              <a:rPr b="1" sz="1050">
                <a:solidFill>
                  <a:srgbClr val="FFFFFF"/>
                </a:solidFill>
                <a:latin typeface="Calibri"/>
              </a:rPr>
              <a:t>Industrial Loads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&amp; Grid Interconnect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3685032"/>
            <a:ext cx="3108960" cy="566928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5000" y="3685032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/>
            </a:r>
            <a:r>
              <a:rPr b="1" sz="1050">
                <a:solidFill>
                  <a:srgbClr val="FFFFFF"/>
                </a:solidFill>
                <a:latin typeface="Calibri"/>
              </a:rPr>
              <a:t>Protection + SCADA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IEC 61850 / MODBUS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7800" y="1914525"/>
            <a:ext cx="182880" cy="2053971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440680" y="1914525.0"/>
            <a:ext cx="182880" cy="0.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440680" y="2599182.0"/>
            <a:ext cx="182880" cy="0.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440680" y="3283839.0"/>
            <a:ext cx="182880" cy="0.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440680" y="3968496.0"/>
            <a:ext cx="182880" cy="0.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074920" y="2964370.5"/>
            <a:ext cx="182880" cy="0.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743200" y="2941510.5"/>
            <a:ext cx="182880" cy="0.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240280" y="1676781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DC BUS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1731645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AC BUS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4370832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Bidirectional power flow  ·  IEC 61850 GOOSE/MMS  ·  DNP3/MODBUS SCADA  ·  IEEE 1547.4 protection coordination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47777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Team VoltForge  ·  AURORA  ·  Hybrid Hack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477774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6933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E7C86"/>
                </a:solidFill>
                <a:latin typeface="Calibri"/>
              </a:rPr>
              <a:t>BLACK-START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4677"/>
            <a:ext cx="8321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D1B2A"/>
                </a:solidFill>
                <a:latin typeface="Cambria"/>
              </a:rPr>
              <a:t>90-Second Black-Start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5301"/>
            <a:ext cx="8321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From a completely dead grid to full multi-source operation — verified in MATLAB/Simulink + OPAL-RT HIL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2106549"/>
            <a:ext cx="8321040" cy="0"/>
          </a:xfrm>
          <a:prstGeom prst="line">
            <a:avLst/>
          </a:prstGeom>
          <a:ln w="28575">
            <a:solidFill>
              <a:srgbClr val="D1D5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1539621"/>
            <a:ext cx="19979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B45309"/>
                </a:solidFill>
                <a:latin typeface="Cambria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2738" y="2028825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79701"/>
            <a:ext cx="19979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B45309"/>
                </a:solidFill>
                <a:latin typeface="Calibri"/>
              </a:rPr>
              <a:t>0–5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99157"/>
            <a:ext cx="19979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D1B2A"/>
                </a:solidFill>
                <a:latin typeface="Cambria"/>
              </a:rPr>
              <a:t>Pre-Start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2838069"/>
            <a:ext cx="188823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28016" indent="-128016">
              <a:lnSpc>
                <a:spcPct val="108000"/>
              </a:lnSpc>
              <a:spcAft>
                <a:spcPts val="500"/>
              </a:spcAft>
              <a:buClr>
                <a:srgbClr val="64748B"/>
              </a:buClr>
              <a:buFont typeface="Arial"/>
              <a:buChar char="•"/>
            </a:pPr>
            <a:r>
              <a:rPr sz="919">
                <a:solidFill>
                  <a:srgbClr val="1B2A3B"/>
                </a:solidFill>
                <a:latin typeface="Calibri"/>
              </a:rPr>
              <a:t>EMS reads battery SoC (&gt;15% required)</a:t>
            </a:r>
          </a:p>
          <a:p>
            <a:pPr algn="l" marL="128016" indent="-128016">
              <a:lnSpc>
                <a:spcPct val="108000"/>
              </a:lnSpc>
              <a:spcAft>
                <a:spcPts val="500"/>
              </a:spcAft>
              <a:buClr>
                <a:srgbClr val="64748B"/>
              </a:buClr>
              <a:buFont typeface="Arial"/>
              <a:buChar char="•"/>
            </a:pPr>
            <a:r>
              <a:rPr sz="919">
                <a:solidFill>
                  <a:srgbClr val="1B2A3B"/>
                </a:solidFill>
                <a:latin typeface="Calibri"/>
              </a:rPr>
              <a:t>Inverter self-test &amp; pre-charge</a:t>
            </a:r>
          </a:p>
          <a:p>
            <a:pPr algn="l" marL="128016" indent="-128016">
              <a:lnSpc>
                <a:spcPct val="108000"/>
              </a:lnSpc>
              <a:spcAft>
                <a:spcPts val="500"/>
              </a:spcAft>
              <a:buClr>
                <a:srgbClr val="64748B"/>
              </a:buClr>
              <a:buFont typeface="Arial"/>
              <a:buChar char="•"/>
            </a:pPr>
            <a:r>
              <a:rPr sz="919">
                <a:solidFill>
                  <a:srgbClr val="1B2A3B"/>
                </a:solidFill>
                <a:latin typeface="Calibri"/>
              </a:rPr>
              <a:t>Protection relays set for island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9172" y="1539621"/>
            <a:ext cx="19979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E7C86"/>
                </a:solidFill>
                <a:latin typeface="Cambria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0430" y="2028825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9172" y="2179701"/>
            <a:ext cx="19979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86"/>
                </a:solidFill>
                <a:latin typeface="Calibri"/>
              </a:rPr>
              <a:t>5–30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9172" y="2399157"/>
            <a:ext cx="19979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D1B2A"/>
                </a:solidFill>
                <a:latin typeface="Cambria"/>
              </a:rPr>
              <a:t>Voltage Establishment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4036" y="2838069"/>
            <a:ext cx="188823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28016" indent="-128016">
              <a:lnSpc>
                <a:spcPct val="108000"/>
              </a:lnSpc>
              <a:spcAft>
                <a:spcPts val="500"/>
              </a:spcAft>
              <a:buClr>
                <a:srgbClr val="64748B"/>
              </a:buClr>
              <a:buFont typeface="Arial"/>
              <a:buChar char="•"/>
            </a:pPr>
            <a:r>
              <a:rPr sz="919">
                <a:solidFill>
                  <a:srgbClr val="1B2A3B"/>
                </a:solidFill>
                <a:latin typeface="Calibri"/>
              </a:rPr>
              <a:t>GFI energizes 400V/50Hz on dead bus</a:t>
            </a:r>
          </a:p>
          <a:p>
            <a:pPr algn="l" marL="128016" indent="-128016">
              <a:lnSpc>
                <a:spcPct val="108000"/>
              </a:lnSpc>
              <a:spcAft>
                <a:spcPts val="500"/>
              </a:spcAft>
              <a:buClr>
                <a:srgbClr val="64748B"/>
              </a:buClr>
              <a:buFont typeface="Arial"/>
              <a:buChar char="•"/>
            </a:pPr>
            <a:r>
              <a:rPr sz="919">
                <a:solidFill>
                  <a:srgbClr val="1B2A3B"/>
                </a:solidFill>
                <a:latin typeface="Calibri"/>
              </a:rPr>
              <a:t>VSG injects 5–10s virtual inertia</a:t>
            </a:r>
          </a:p>
          <a:p>
            <a:pPr algn="l" marL="128016" indent="-128016">
              <a:lnSpc>
                <a:spcPct val="108000"/>
              </a:lnSpc>
              <a:spcAft>
                <a:spcPts val="500"/>
              </a:spcAft>
              <a:buClr>
                <a:srgbClr val="64748B"/>
              </a:buClr>
              <a:buFont typeface="Arial"/>
              <a:buChar char="•"/>
            </a:pPr>
            <a:r>
              <a:rPr sz="919">
                <a:solidFill>
                  <a:srgbClr val="1B2A3B"/>
                </a:solidFill>
                <a:latin typeface="Calibri"/>
              </a:rPr>
              <a:t>Frequency held within ±0.2 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539621"/>
            <a:ext cx="19979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4A6FA5"/>
                </a:solidFill>
                <a:latin typeface="Cambria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48122" y="2028825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6864" y="2179701"/>
            <a:ext cx="19979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4A6FA5"/>
                </a:solidFill>
                <a:latin typeface="Calibri"/>
              </a:rPr>
              <a:t>30–60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2399157"/>
            <a:ext cx="19979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D1B2A"/>
                </a:solidFill>
                <a:latin typeface="Cambria"/>
              </a:rPr>
              <a:t>Critical Load Energization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2838069"/>
            <a:ext cx="188823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28016" indent="-128016">
              <a:lnSpc>
                <a:spcPct val="108000"/>
              </a:lnSpc>
              <a:spcAft>
                <a:spcPts val="500"/>
              </a:spcAft>
              <a:buClr>
                <a:srgbClr val="64748B"/>
              </a:buClr>
              <a:buFont typeface="Arial"/>
              <a:buChar char="•"/>
            </a:pPr>
            <a:r>
              <a:rPr sz="919">
                <a:solidFill>
                  <a:srgbClr val="1B2A3B"/>
                </a:solidFill>
                <a:latin typeface="Calibri"/>
              </a:rPr>
              <a:t>Hospitals, water, comms connected</a:t>
            </a:r>
          </a:p>
          <a:p>
            <a:pPr algn="l" marL="128016" indent="-128016">
              <a:lnSpc>
                <a:spcPct val="108000"/>
              </a:lnSpc>
              <a:spcAft>
                <a:spcPts val="500"/>
              </a:spcAft>
              <a:buClr>
                <a:srgbClr val="64748B"/>
              </a:buClr>
              <a:buFont typeface="Arial"/>
              <a:buChar char="•"/>
            </a:pPr>
            <a:r>
              <a:rPr sz="919">
                <a:solidFill>
                  <a:srgbClr val="1B2A3B"/>
                </a:solidFill>
                <a:latin typeface="Calibri"/>
              </a:rPr>
              <a:t>Loads close in 5kW steps / 500ms</a:t>
            </a:r>
          </a:p>
          <a:p>
            <a:pPr algn="l" marL="128016" indent="-128016">
              <a:lnSpc>
                <a:spcPct val="108000"/>
              </a:lnSpc>
              <a:spcAft>
                <a:spcPts val="500"/>
              </a:spcAft>
              <a:buClr>
                <a:srgbClr val="64748B"/>
              </a:buClr>
              <a:buFont typeface="Arial"/>
              <a:buChar char="•"/>
            </a:pPr>
            <a:r>
              <a:rPr sz="919">
                <a:solidFill>
                  <a:srgbClr val="1B2A3B"/>
                </a:solidFill>
                <a:latin typeface="Calibri"/>
              </a:rPr>
              <a:t>Geothermal &amp; H₂ join in parallel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556" y="1539621"/>
            <a:ext cx="19979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F6F4E"/>
                </a:solidFill>
                <a:latin typeface="Cambria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55814" y="2028825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4556" y="2179701"/>
            <a:ext cx="19979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F6F4E"/>
                </a:solidFill>
                <a:latin typeface="Calibri"/>
              </a:rPr>
              <a:t>60–90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4556" y="2399157"/>
            <a:ext cx="19979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D1B2A"/>
                </a:solidFill>
                <a:latin typeface="Cambria"/>
              </a:rPr>
              <a:t>Full Restoration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9420" y="2838069"/>
            <a:ext cx="188823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28016" indent="-128016">
              <a:lnSpc>
                <a:spcPct val="108000"/>
              </a:lnSpc>
              <a:spcAft>
                <a:spcPts val="500"/>
              </a:spcAft>
              <a:buClr>
                <a:srgbClr val="64748B"/>
              </a:buClr>
              <a:buFont typeface="Arial"/>
              <a:buChar char="•"/>
            </a:pPr>
            <a:r>
              <a:rPr sz="919">
                <a:solidFill>
                  <a:srgbClr val="1B2A3B"/>
                </a:solidFill>
                <a:latin typeface="Calibri"/>
              </a:rPr>
              <a:t>All five sources online</a:t>
            </a:r>
          </a:p>
          <a:p>
            <a:pPr algn="l" marL="128016" indent="-128016">
              <a:lnSpc>
                <a:spcPct val="108000"/>
              </a:lnSpc>
              <a:spcAft>
                <a:spcPts val="500"/>
              </a:spcAft>
              <a:buClr>
                <a:srgbClr val="64748B"/>
              </a:buClr>
              <a:buFont typeface="Arial"/>
              <a:buChar char="•"/>
            </a:pPr>
            <a:r>
              <a:rPr sz="919">
                <a:solidFill>
                  <a:srgbClr val="1B2A3B"/>
                </a:solidFill>
                <a:latin typeface="Calibri"/>
              </a:rPr>
              <a:t>EMS switches to MPC dispatch</a:t>
            </a:r>
          </a:p>
          <a:p>
            <a:pPr algn="l" marL="128016" indent="-128016">
              <a:lnSpc>
                <a:spcPct val="108000"/>
              </a:lnSpc>
              <a:spcAft>
                <a:spcPts val="500"/>
              </a:spcAft>
              <a:buClr>
                <a:srgbClr val="64748B"/>
              </a:buClr>
              <a:buFont typeface="Arial"/>
              <a:buChar char="•"/>
            </a:pPr>
            <a:r>
              <a:rPr sz="919">
                <a:solidFill>
                  <a:srgbClr val="1B2A3B"/>
                </a:solidFill>
                <a:latin typeface="Calibri"/>
              </a:rPr>
              <a:t>All loads energized, relays normal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224528"/>
            <a:ext cx="8321040" cy="310896"/>
          </a:xfrm>
          <a:prstGeom prst="roundRect">
            <a:avLst>
              <a:gd name="adj" fmla="val 2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279392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B2A3B"/>
                </a:solidFill>
                <a:latin typeface="Calibri"/>
              </a:rPr>
              <a:t>Simulation validated: MATLAB/Simulink SimPowerSystems  ·  HIL: OPAL-RT OP5700  ·  ITAE error: 0.042 rad vs 0.89 rad (PI-only control)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7777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Team VoltForge  ·  AURORA  ·  Hybrid Hack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77774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6933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E7C86"/>
                </a:solidFill>
                <a:latin typeface="Calibri"/>
              </a:rPr>
              <a:t>DESIGN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4677"/>
            <a:ext cx="8321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mbria"/>
              </a:rPr>
              <a:t>Why This Architecture: Comparative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5301"/>
            <a:ext cx="8321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AURORA vs. alternatives — assessed on LCOE, startup time, carbon, scalability &amp; resilience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39621"/>
            <a:ext cx="1955444" cy="2743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39621"/>
            <a:ext cx="18457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366924" y="1539621"/>
            <a:ext cx="1289761" cy="2743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0076" y="1539621"/>
            <a:ext cx="118003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1" i="0">
                <a:solidFill>
                  <a:srgbClr val="FFFFFF"/>
                </a:solidFill>
                <a:latin typeface="Calibri"/>
              </a:rPr>
              <a:t>LCOE ($/kWh)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6685" y="1539621"/>
            <a:ext cx="1206550" cy="2743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9837" y="1539621"/>
            <a:ext cx="109682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1" i="0">
                <a:solidFill>
                  <a:srgbClr val="FFFFFF"/>
                </a:solidFill>
                <a:latin typeface="Calibri"/>
              </a:rPr>
              <a:t>Black-Start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3236" y="1539621"/>
            <a:ext cx="1206550" cy="2743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6388" y="1539621"/>
            <a:ext cx="109682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1" i="0">
                <a:solidFill>
                  <a:srgbClr val="FFFFFF"/>
                </a:solidFill>
                <a:latin typeface="Calibri"/>
              </a:rPr>
              <a:t>CO₂ (g/kWh)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69787" y="1539621"/>
            <a:ext cx="1206550" cy="2743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2939" y="1539621"/>
            <a:ext cx="109682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1" i="0">
                <a:solidFill>
                  <a:srgbClr val="FFFFFF"/>
                </a:solidFill>
                <a:latin typeface="Calibri"/>
              </a:rPr>
              <a:t>Inertia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76337" y="1539621"/>
            <a:ext cx="1456182" cy="2743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9489" y="1539621"/>
            <a:ext cx="134645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1" i="0">
                <a:solidFill>
                  <a:srgbClr val="FFFFFF"/>
                </a:solidFill>
                <a:latin typeface="Calibri"/>
              </a:rPr>
              <a:t>Scalable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813941"/>
            <a:ext cx="8321040" cy="278892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1813941"/>
            <a:ext cx="1864004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1" i="0">
                <a:solidFill>
                  <a:srgbClr val="1B2A3B"/>
                </a:solidFill>
                <a:latin typeface="Calibri"/>
              </a:rPr>
              <a:t>Diesel Genset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0076" y="1813941"/>
            <a:ext cx="1198321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1B2A3B"/>
                </a:solidFill>
                <a:latin typeface="Calibri"/>
              </a:rPr>
              <a:t>0.30–0.50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9837" y="1813941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1B2A3B"/>
                </a:solidFill>
                <a:latin typeface="Calibri"/>
              </a:rPr>
              <a:t>8–15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6388" y="1813941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1B2A3B"/>
                </a:solidFill>
                <a:latin typeface="Calibri"/>
              </a:rPr>
              <a:t>500–800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2939" y="1813941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0D1B2A"/>
                </a:solidFill>
                <a:latin typeface="Calibri"/>
              </a:rPr>
              <a:t/>
            </a:r>
            <a:r>
              <a:rPr b="1" sz="930">
                <a:solidFill>
                  <a:srgbClr val="B45309"/>
                </a:solidFill>
                <a:latin typeface="Calibri"/>
              </a:rPr>
              <a:t>✗ </a:t>
            </a:r>
            <a:r>
              <a:rPr sz="930">
                <a:solidFill>
                  <a:srgbClr val="1B2A3B"/>
                </a:solidFill>
                <a:latin typeface="Calibri"/>
              </a:rP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9489" y="1813941"/>
            <a:ext cx="1364742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0D1B2A"/>
                </a:solidFill>
                <a:latin typeface="Calibri"/>
              </a:rPr>
              <a:t/>
            </a:r>
            <a:r>
              <a:rPr b="1" sz="930">
                <a:solidFill>
                  <a:srgbClr val="B45309"/>
                </a:solidFill>
                <a:latin typeface="Calibri"/>
              </a:rPr>
              <a:t>✗ </a:t>
            </a:r>
            <a:r>
              <a:rPr sz="930">
                <a:solidFill>
                  <a:srgbClr val="1B2A3B"/>
                </a:solidFill>
                <a:latin typeface="Calibri"/>
              </a:rPr>
              <a:t>Limited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092833"/>
            <a:ext cx="8321040" cy="2788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2092833"/>
            <a:ext cx="1864004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1" i="0">
                <a:solidFill>
                  <a:srgbClr val="1B2A3B"/>
                </a:solidFill>
                <a:latin typeface="Calibri"/>
              </a:rPr>
              <a:t>Solar + Li-ion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0076" y="2092833"/>
            <a:ext cx="1198321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1B2A3B"/>
                </a:solidFill>
                <a:latin typeface="Calibri"/>
              </a:rPr>
              <a:t>0.14–0.20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9837" y="2092833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1B2A3B"/>
                </a:solidFill>
                <a:latin typeface="Calibri"/>
              </a:rPr>
              <a:t>No (if dark)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6388" y="2092833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1B2A3B"/>
                </a:solidFill>
                <a:latin typeface="Calibri"/>
              </a:rPr>
              <a:t>~0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2939" y="2092833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0D1B2A"/>
                </a:solidFill>
                <a:latin typeface="Calibri"/>
              </a:rPr>
              <a:t/>
            </a:r>
            <a:r>
              <a:rPr b="1" sz="930">
                <a:solidFill>
                  <a:srgbClr val="B45309"/>
                </a:solidFill>
                <a:latin typeface="Calibri"/>
              </a:rPr>
              <a:t>✗ </a:t>
            </a:r>
            <a:r>
              <a:rPr sz="930">
                <a:solidFill>
                  <a:srgbClr val="1B2A3B"/>
                </a:solidFill>
                <a:latin typeface="Calibri"/>
              </a:rPr>
              <a:t>None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9489" y="2092833"/>
            <a:ext cx="1364742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0D1B2A"/>
                </a:solidFill>
                <a:latin typeface="Calibri"/>
              </a:rPr>
              <a:t/>
            </a:r>
            <a:r>
              <a:rPr b="1" sz="930">
                <a:solidFill>
                  <a:srgbClr val="2F6F4E"/>
                </a:solidFill>
                <a:latin typeface="Calibri"/>
              </a:rPr>
              <a:t>✓ </a:t>
            </a:r>
            <a:r>
              <a:rPr sz="930">
                <a:solidFill>
                  <a:srgbClr val="1B2A3B"/>
                </a:solidFill>
                <a:latin typeface="Calibri"/>
              </a:rPr>
              <a:t>Moderate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371725"/>
            <a:ext cx="8321040" cy="278892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2371725"/>
            <a:ext cx="1864004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1" i="0">
                <a:solidFill>
                  <a:srgbClr val="1B2A3B"/>
                </a:solidFill>
                <a:latin typeface="Calibri"/>
              </a:rPr>
              <a:t>Solar+Wind+Li-ion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0076" y="2371725"/>
            <a:ext cx="1198321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1B2A3B"/>
                </a:solidFill>
                <a:latin typeface="Calibri"/>
              </a:rPr>
              <a:t>0.12–0.18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9837" y="2371725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1B2A3B"/>
                </a:solidFill>
                <a:latin typeface="Calibri"/>
              </a:rPr>
              <a:t>Partial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6388" y="2371725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1B2A3B"/>
                </a:solidFill>
                <a:latin typeface="Calibri"/>
              </a:rPr>
              <a:t>~0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2939" y="2371725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0D1B2A"/>
                </a:solidFill>
                <a:latin typeface="Calibri"/>
              </a:rPr>
              <a:t/>
            </a:r>
            <a:r>
              <a:rPr b="1" sz="930">
                <a:solidFill>
                  <a:srgbClr val="B45309"/>
                </a:solidFill>
                <a:latin typeface="Calibri"/>
              </a:rPr>
              <a:t>✗ </a:t>
            </a:r>
            <a:r>
              <a:rPr sz="930">
                <a:solidFill>
                  <a:srgbClr val="1B2A3B"/>
                </a:solidFill>
                <a:latin typeface="Calibri"/>
              </a:rPr>
              <a:t>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9489" y="2371725"/>
            <a:ext cx="1364742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0D1B2A"/>
                </a:solidFill>
                <a:latin typeface="Calibri"/>
              </a:rPr>
              <a:t/>
            </a:r>
            <a:r>
              <a:rPr b="1" sz="930">
                <a:solidFill>
                  <a:srgbClr val="2F6F4E"/>
                </a:solidFill>
                <a:latin typeface="Calibri"/>
              </a:rPr>
              <a:t>✓ </a:t>
            </a:r>
            <a:r>
              <a:rPr sz="930">
                <a:solidFill>
                  <a:srgbClr val="1B2A3B"/>
                </a:solidFill>
                <a:latin typeface="Calibri"/>
              </a:rPr>
              <a:t>Good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650617"/>
            <a:ext cx="8321040" cy="2788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" y="2650617"/>
            <a:ext cx="1864004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1" i="0">
                <a:solidFill>
                  <a:srgbClr val="1B2A3B"/>
                </a:solidFill>
                <a:latin typeface="Calibri"/>
              </a:rPr>
              <a:t>Pumped Hydro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40076" y="2650617"/>
            <a:ext cx="1198321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1B2A3B"/>
                </a:solidFill>
                <a:latin typeface="Calibri"/>
              </a:rPr>
              <a:t>0.05–0.15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9837" y="2650617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1B2A3B"/>
                </a:solidFill>
                <a:latin typeface="Calibri"/>
              </a:rPr>
              <a:t>Yes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6388" y="2650617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1B2A3B"/>
                </a:solidFill>
                <a:latin typeface="Calibri"/>
              </a:rPr>
              <a:t>~0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2939" y="2650617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0D1B2A"/>
                </a:solidFill>
                <a:latin typeface="Calibri"/>
              </a:rPr>
              <a:t/>
            </a:r>
            <a:r>
              <a:rPr b="1" sz="930">
                <a:solidFill>
                  <a:srgbClr val="2F6F4E"/>
                </a:solidFill>
                <a:latin typeface="Calibri"/>
              </a:rPr>
              <a:t>✓ </a:t>
            </a:r>
            <a:r>
              <a:rPr sz="930">
                <a:solidFill>
                  <a:srgbClr val="1B2A3B"/>
                </a:solidFill>
                <a:latin typeface="Calibri"/>
              </a:rPr>
              <a:t>Natural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49489" y="2650617"/>
            <a:ext cx="1364742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0D1B2A"/>
                </a:solidFill>
                <a:latin typeface="Calibri"/>
              </a:rPr>
              <a:t/>
            </a:r>
            <a:r>
              <a:rPr b="1" sz="930">
                <a:solidFill>
                  <a:srgbClr val="B45309"/>
                </a:solidFill>
                <a:latin typeface="Calibri"/>
              </a:rPr>
              <a:t>✗ </a:t>
            </a:r>
            <a:r>
              <a:rPr sz="930">
                <a:solidFill>
                  <a:srgbClr val="1B2A3B"/>
                </a:solidFill>
                <a:latin typeface="Calibri"/>
              </a:rPr>
              <a:t>Fixed geo.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929509"/>
            <a:ext cx="8321040" cy="297180"/>
          </a:xfrm>
          <a:prstGeom prst="rect">
            <a:avLst/>
          </a:prstGeom>
          <a:solidFill>
            <a:srgbClr val="D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" y="2929509"/>
            <a:ext cx="1864004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7C86"/>
                </a:solidFill>
                <a:latin typeface="Calibri"/>
              </a:rPr>
              <a:t>AURORA (This Project)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40076" y="2929509"/>
            <a:ext cx="1198321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7C86"/>
                </a:solidFill>
                <a:latin typeface="Calibri"/>
              </a:rPr>
              <a:t>0.09–0.14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29837" y="2929509"/>
            <a:ext cx="111511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7C86"/>
                </a:solidFill>
                <a:latin typeface="Calibri"/>
              </a:rPr>
              <a:t>&lt; 90 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6388" y="2929509"/>
            <a:ext cx="111511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7C86"/>
                </a:solidFill>
                <a:latin typeface="Calibri"/>
              </a:rPr>
              <a:t>Zero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2939" y="2929509"/>
            <a:ext cx="1115110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/>
            </a:r>
            <a:r>
              <a:rPr b="1" sz="950">
                <a:solidFill>
                  <a:srgbClr val="2F6F4E"/>
                </a:solidFill>
                <a:latin typeface="Calibri"/>
              </a:rPr>
              <a:t>✓ </a:t>
            </a:r>
            <a:r>
              <a:rPr b="1" sz="950">
                <a:solidFill>
                  <a:srgbClr val="0E7C86"/>
                </a:solidFill>
                <a:latin typeface="Calibri"/>
              </a:rPr>
              <a:t>VSG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9489" y="2929509"/>
            <a:ext cx="1364742" cy="2788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D1B2A"/>
                </a:solidFill>
                <a:latin typeface="Calibri"/>
              </a:rPr>
              <a:t/>
            </a:r>
            <a:r>
              <a:rPr b="1" sz="950">
                <a:solidFill>
                  <a:srgbClr val="2F6F4E"/>
                </a:solidFill>
                <a:latin typeface="Calibri"/>
              </a:rPr>
              <a:t>✓ </a:t>
            </a:r>
            <a:r>
              <a:rPr b="1" sz="950">
                <a:solidFill>
                  <a:srgbClr val="0E7C86"/>
                </a:solidFill>
                <a:latin typeface="Calibri"/>
              </a:rPr>
              <a:t>100kW–10MW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11480" y="1539621"/>
            <a:ext cx="8321040" cy="0"/>
          </a:xfrm>
          <a:prstGeom prst="line">
            <a:avLst/>
          </a:prstGeom>
          <a:ln w="9525">
            <a:solidFill>
              <a:srgbClr val="D1D5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1480" y="3354705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mbria"/>
              </a:rPr>
              <a:t>Key Design Decisions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3610737"/>
            <a:ext cx="8321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0E7C86"/>
              </a:buClr>
              <a:buFont typeface="Arial"/>
              <a:buChar char="•"/>
            </a:pPr>
            <a:r>
              <a:rPr sz="960">
                <a:solidFill>
                  <a:srgbClr val="1B2A3B"/>
                </a:solidFill>
                <a:latin typeface="Calibri"/>
              </a:rPr>
              <a:t>VRFB over pure Li-ion for long-duration role: 20,000+ cycles, no capacity fade, fire-safe aqueous electrolyte.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0E7C86"/>
              </a:buClr>
              <a:buFont typeface="Arial"/>
              <a:buChar char="•"/>
            </a:pPr>
            <a:r>
              <a:rPr sz="960">
                <a:solidFill>
                  <a:srgbClr val="1B2A3B"/>
                </a:solidFill>
                <a:latin typeface="Calibri"/>
              </a:rPr>
              <a:t>Geothermal supplies 24/7 baseload (90%+ CF) — solves the “dark doldrums” that defeat pure solar/wind systems.</a:t>
            </a:r>
          </a:p>
          <a:p>
            <a:pPr algn="l" marL="164592" indent="-164592">
              <a:lnSpc>
                <a:spcPct val="108000"/>
              </a:lnSpc>
              <a:spcAft>
                <a:spcPts val="400"/>
              </a:spcAft>
              <a:buClr>
                <a:srgbClr val="0E7C86"/>
              </a:buClr>
              <a:buFont typeface="Arial"/>
              <a:buChar char="•"/>
            </a:pPr>
            <a:r>
              <a:rPr sz="960">
                <a:solidFill>
                  <a:srgbClr val="1B2A3B"/>
                </a:solidFill>
                <a:latin typeface="Calibri"/>
              </a:rPr>
              <a:t>Hydrogen PEM bridges seasonal gaps, converting curtailed renewable energy into dispatchable fuel.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47777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Team VoltForge  ·  AURORA  ·  Hybrid Hack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477774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6933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E7C86"/>
                </a:solidFill>
                <a:latin typeface="Calibri"/>
              </a:rPr>
              <a:t>ECONOMIC &amp;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4677"/>
            <a:ext cx="8321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mbria"/>
              </a:rPr>
              <a:t>Quantitative Assessment: Cost, Performance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5301"/>
            <a:ext cx="4160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  <a:latin typeface="Cambria"/>
              </a:rPr>
              <a:t>Levelized Cost of Energy ($/kWh)</a:t>
            </a:r>
          </a:p>
        </p:txBody>
      </p:sp>
      <p:pic>
        <p:nvPicPr>
          <p:cNvPr id="6" name="Picture 5" descr="lco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6469"/>
            <a:ext cx="2944368" cy="128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0" y="1265301"/>
            <a:ext cx="3886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  <a:latin typeface="Cambria"/>
              </a:rPr>
              <a:t>Generation Capacity Mix</a:t>
            </a:r>
          </a:p>
        </p:txBody>
      </p:sp>
      <p:pic>
        <p:nvPicPr>
          <p:cNvPr id="8" name="Picture 7" descr="mix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29893"/>
            <a:ext cx="1687721" cy="12435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37960" y="1466469"/>
            <a:ext cx="91440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84264" y="1448181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1B2A3B"/>
                </a:solidFill>
                <a:latin typeface="Calibri"/>
              </a:rPr>
              <a:t>Solar PV 500kWp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690497"/>
            <a:ext cx="91440" cy="9144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4264" y="1672209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1B2A3B"/>
                </a:solidFill>
                <a:latin typeface="Calibri"/>
              </a:rPr>
              <a:t>Wind 300kW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914525"/>
            <a:ext cx="91440" cy="91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1896237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1B2A3B"/>
                </a:solidFill>
                <a:latin typeface="Calibri"/>
              </a:rPr>
              <a:t>Geothermal 200kW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138553"/>
            <a:ext cx="91440" cy="91440"/>
          </a:xfrm>
          <a:prstGeom prst="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2120265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1B2A3B"/>
                </a:solidFill>
                <a:latin typeface="Calibri"/>
              </a:rPr>
              <a:t>H₂ Cell 150kW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2362581"/>
            <a:ext cx="91440" cy="9144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4264" y="2344293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1B2A3B"/>
                </a:solidFill>
                <a:latin typeface="Calibri"/>
              </a:rPr>
              <a:t>Storage 250kW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819781"/>
            <a:ext cx="8321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  <a:latin typeface="Cambria"/>
              </a:rPr>
              <a:t>20-Year Lifecycle Cost vs. Diesel ($M cumulative)</a:t>
            </a:r>
          </a:p>
        </p:txBody>
      </p:sp>
      <p:pic>
        <p:nvPicPr>
          <p:cNvPr id="20" name="Picture 19" descr="lifecy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20949"/>
            <a:ext cx="5020351" cy="1051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47777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Team VoltForge  ·  AURORA  ·  Hybrid Hack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77774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6933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E7C86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4677"/>
            <a:ext cx="8321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mbria"/>
              </a:rPr>
              <a:t>Advantages, Limitations &amp; Mitigation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5301"/>
            <a:ext cx="8321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An honest engineering assessment — advantages significantly outweigh limitations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39621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F6F4E"/>
                </a:solidFill>
                <a:latin typeface="Cambria"/>
              </a:rP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95653"/>
            <a:ext cx="4160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4592" indent="-164592">
              <a:lnSpc>
                <a:spcPct val="112000"/>
              </a:lnSpc>
              <a:spcAft>
                <a:spcPts val="700"/>
              </a:spcAft>
              <a:buClr>
                <a:srgbClr val="2F6F4E"/>
              </a:buClr>
              <a:buFont typeface="Arial"/>
              <a:buChar char="•"/>
            </a:pPr>
            <a:r>
              <a:rPr sz="960">
                <a:solidFill>
                  <a:srgbClr val="1B2A3B"/>
                </a:solidFill>
                <a:latin typeface="Calibri"/>
              </a:rPr>
              <a:t>&lt; 90s black-start, no diesel, no external reference</a:t>
            </a:r>
          </a:p>
          <a:p>
            <a:pPr algn="l" marL="164592" indent="-164592">
              <a:lnSpc>
                <a:spcPct val="112000"/>
              </a:lnSpc>
              <a:spcAft>
                <a:spcPts val="700"/>
              </a:spcAft>
              <a:buClr>
                <a:srgbClr val="2F6F4E"/>
              </a:buClr>
              <a:buFont typeface="Arial"/>
              <a:buChar char="•"/>
            </a:pPr>
            <a:r>
              <a:rPr sz="960">
                <a:solidFill>
                  <a:srgbClr val="1B2A3B"/>
                </a:solidFill>
                <a:latin typeface="Calibri"/>
              </a:rPr>
              <a:t>Carbon-zero steady-state — IPCC 1.5°C pathway compliant</a:t>
            </a:r>
          </a:p>
          <a:p>
            <a:pPr algn="l" marL="164592" indent="-164592">
              <a:lnSpc>
                <a:spcPct val="112000"/>
              </a:lnSpc>
              <a:spcAft>
                <a:spcPts val="700"/>
              </a:spcAft>
              <a:buClr>
                <a:srgbClr val="2F6F4E"/>
              </a:buClr>
              <a:buFont typeface="Arial"/>
              <a:buChar char="•"/>
            </a:pPr>
            <a:r>
              <a:rPr sz="960">
                <a:solidFill>
                  <a:srgbClr val="1B2A3B"/>
                </a:solidFill>
                <a:latin typeface="Calibri"/>
              </a:rPr>
              <a:t>LCOE $0.09–0.14/kWh — 3–5× cheaper than diesel</a:t>
            </a:r>
          </a:p>
          <a:p>
            <a:pPr algn="l" marL="164592" indent="-164592">
              <a:lnSpc>
                <a:spcPct val="112000"/>
              </a:lnSpc>
              <a:spcAft>
                <a:spcPts val="700"/>
              </a:spcAft>
              <a:buClr>
                <a:srgbClr val="2F6F4E"/>
              </a:buClr>
              <a:buFont typeface="Arial"/>
              <a:buChar char="•"/>
            </a:pPr>
            <a:r>
              <a:rPr sz="960">
                <a:solidFill>
                  <a:srgbClr val="1B2A3B"/>
                </a:solidFill>
                <a:latin typeface="Calibri"/>
              </a:rPr>
              <a:t>VSG synthetic inertia prevents frequency collapse</a:t>
            </a:r>
          </a:p>
          <a:p>
            <a:pPr algn="l" marL="164592" indent="-164592">
              <a:lnSpc>
                <a:spcPct val="112000"/>
              </a:lnSpc>
              <a:spcAft>
                <a:spcPts val="700"/>
              </a:spcAft>
              <a:buClr>
                <a:srgbClr val="2F6F4E"/>
              </a:buClr>
              <a:buFont typeface="Arial"/>
              <a:buChar char="•"/>
            </a:pPr>
            <a:r>
              <a:rPr sz="960">
                <a:solidFill>
                  <a:srgbClr val="1B2A3B"/>
                </a:solidFill>
                <a:latin typeface="Calibri"/>
              </a:rPr>
              <a:t>Hospitals &amp; emergency comms restored in first 30s</a:t>
            </a:r>
          </a:p>
          <a:p>
            <a:pPr algn="l" marL="164592" indent="-164592">
              <a:lnSpc>
                <a:spcPct val="112000"/>
              </a:lnSpc>
              <a:spcAft>
                <a:spcPts val="700"/>
              </a:spcAft>
              <a:buClr>
                <a:srgbClr val="2F6F4E"/>
              </a:buClr>
              <a:buFont typeface="Arial"/>
              <a:buChar char="•"/>
            </a:pPr>
            <a:r>
              <a:rPr sz="960">
                <a:solidFill>
                  <a:srgbClr val="1B2A3B"/>
                </a:solidFill>
                <a:latin typeface="Calibri"/>
              </a:rPr>
              <a:t>Modular: identical design from 100kW to 10MW</a:t>
            </a:r>
          </a:p>
          <a:p>
            <a:pPr algn="l" marL="164592" indent="-164592">
              <a:lnSpc>
                <a:spcPct val="112000"/>
              </a:lnSpc>
              <a:spcAft>
                <a:spcPts val="700"/>
              </a:spcAft>
              <a:buClr>
                <a:srgbClr val="2F6F4E"/>
              </a:buClr>
              <a:buFont typeface="Arial"/>
              <a:buChar char="•"/>
            </a:pPr>
            <a:r>
              <a:rPr sz="960">
                <a:solidFill>
                  <a:srgbClr val="1B2A3B"/>
                </a:solidFill>
                <a:latin typeface="Calibri"/>
              </a:rPr>
              <a:t>IEC 61850 compliant — integrates with existing SCADA</a:t>
            </a:r>
          </a:p>
          <a:p>
            <a:pPr algn="l" marL="164592" indent="-164592">
              <a:lnSpc>
                <a:spcPct val="112000"/>
              </a:lnSpc>
              <a:spcAft>
                <a:spcPts val="700"/>
              </a:spcAft>
              <a:buClr>
                <a:srgbClr val="2F6F4E"/>
              </a:buClr>
              <a:buFont typeface="Arial"/>
              <a:buChar char="•"/>
            </a:pPr>
            <a:r>
              <a:rPr sz="960">
                <a:solidFill>
                  <a:srgbClr val="1B2A3B"/>
                </a:solidFill>
                <a:latin typeface="Calibri"/>
              </a:rPr>
              <a:t>2,400 tCO₂ avoided per site per year vs. diesel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539621"/>
            <a:ext cx="3886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45309"/>
                </a:solidFill>
                <a:latin typeface="Cambria"/>
              </a:rPr>
              <a:t>Limitations → Mitigations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813941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0D1B2A"/>
                </a:solidFill>
                <a:latin typeface="Calibri"/>
              </a:rPr>
              <a:t>▸  VRFB CAPEX $300–500/kWh (vs $150–200 Li-ion)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2033397"/>
            <a:ext cx="36850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→ Projected $150/kWh by 2030 (NREL); green financing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472309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0D1B2A"/>
                </a:solidFill>
                <a:latin typeface="Calibri"/>
              </a:rPr>
              <a:t>▸  Dark doldrums — multi-day low solar + wind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91765"/>
            <a:ext cx="36850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→ Geothermal baseload + H₂ storage fully bridge the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130677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0D1B2A"/>
                </a:solidFill>
                <a:latin typeface="Calibri"/>
              </a:rPr>
              <a:t>▸  VSG tuning needs site-specific 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3350133"/>
            <a:ext cx="36850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→ Pre-configured parameter sets for standard site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789045"/>
            <a:ext cx="3886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0D1B2A"/>
                </a:solidFill>
                <a:latin typeface="Calibri"/>
              </a:rPr>
              <a:t>▸  TRL 5–6 — not yet mass-deployed commercially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4008501"/>
            <a:ext cx="36850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→ Full deployment readiness projected 2027–2028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7777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Team VoltForge  ·  AURORA  ·  Hybrid Hack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77774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6933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E7C86"/>
                </a:solidFill>
                <a:latin typeface="Calibri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4677"/>
            <a:ext cx="8321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D1B2A"/>
                </a:solidFill>
                <a:latin typeface="Cambria"/>
              </a:rPr>
              <a:t>From Simulation to Site: Tech Stack &amp;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5301"/>
            <a:ext cx="8321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How AURORA gets built — the simulation, control, and hardware stack behind every claim in this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39621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mbria"/>
              </a:rPr>
              <a:t>Validated Simulation &amp; Control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13941"/>
            <a:ext cx="54864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813941"/>
            <a:ext cx="4014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 i="0">
                <a:solidFill>
                  <a:srgbClr val="0D1B2A"/>
                </a:solidFill>
                <a:latin typeface="Cambria"/>
              </a:rPr>
              <a:t>Power System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024253"/>
            <a:ext cx="4014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64748B"/>
                </a:solidFill>
                <a:latin typeface="Calibri"/>
              </a:rPr>
              <a:t>MATLAB/Simulink SimPowerSystems — full 5-source generation, dual-chemistry storage, IEEE-1547 inverter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95169"/>
            <a:ext cx="54864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2495169"/>
            <a:ext cx="4014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 i="0">
                <a:solidFill>
                  <a:srgbClr val="0D1B2A"/>
                </a:solidFill>
                <a:latin typeface="Cambria"/>
              </a:rPr>
              <a:t>Real-Time HIL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705481"/>
            <a:ext cx="4014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64748B"/>
                </a:solidFill>
                <a:latin typeface="Calibri"/>
              </a:rPr>
              <a:t>OPAL-RT OP5700 hardware-in-loop — control logic tested against real-time grid physics, not just offline sim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176397"/>
            <a:ext cx="54864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3176397"/>
            <a:ext cx="4014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 i="0">
                <a:solidFill>
                  <a:srgbClr val="0D1B2A"/>
                </a:solidFill>
                <a:latin typeface="Cambria"/>
              </a:rPr>
              <a:t>Control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3386709"/>
            <a:ext cx="4014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64748B"/>
                </a:solidFill>
                <a:latin typeface="Calibri"/>
              </a:rPr>
              <a:t>Grid-forming inverter + VSG emulation, 3-tier EMS (droop → secondary → MPC tertiary dispatch)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857625"/>
            <a:ext cx="54864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3857625"/>
            <a:ext cx="4014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 i="0">
                <a:solidFill>
                  <a:srgbClr val="0D1B2A"/>
                </a:solidFill>
                <a:latin typeface="Cambria"/>
              </a:rPr>
              <a:t>Protection &amp; SCADA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4067937"/>
            <a:ext cx="4014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64748B"/>
                </a:solidFill>
                <a:latin typeface="Calibri"/>
              </a:rPr>
              <a:t>IEC 61850 GOOSE/MMS, DNP3/MODBUS, IEEE 1547.4 island-mode coordination — utility-standard, not custom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539621"/>
            <a:ext cx="3886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mbria"/>
              </a:rPr>
              <a:t>Deployment Readiness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813941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804797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7C86"/>
                </a:solidFill>
                <a:latin typeface="Cambria"/>
              </a:rPr>
              <a:t>TRL 5–6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060829"/>
            <a:ext cx="3886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64748B"/>
                </a:solidFill>
                <a:latin typeface="Calibri"/>
              </a:rPr>
              <a:t>Simulink + OPAL-RT HIL validated; component specs sourced from commercial datasheets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2454021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>
                <a:solidFill>
                  <a:srgbClr val="FFFFFF"/>
                </a:solidFill>
                <a:latin typeface="Calibri"/>
              </a:rPr>
              <a:t>2026–27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2444877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7C86"/>
                </a:solidFill>
                <a:latin typeface="Cambria"/>
              </a:rPr>
              <a:t>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700909"/>
            <a:ext cx="3886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64748B"/>
                </a:solidFill>
                <a:latin typeface="Calibri"/>
              </a:rPr>
              <a:t>100 kW containerized pilot at a single critical-load site (hospital / telecom tower)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3094101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>
                <a:solidFill>
                  <a:srgbClr val="FFFFFF"/>
                </a:solidFill>
                <a:latin typeface="Calibri"/>
              </a:rPr>
              <a:t>2027–28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084957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7C86"/>
                </a:solidFill>
                <a:latin typeface="Cambria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340989"/>
            <a:ext cx="3886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64748B"/>
                </a:solidFill>
                <a:latin typeface="Calibri"/>
              </a:rPr>
              <a:t>Modular replication 100kW–10MW — same control architecture, no redesign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3789045"/>
            <a:ext cx="3886200" cy="530352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74336" y="3862197"/>
            <a:ext cx="3630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0D1B2A"/>
                </a:solidFill>
                <a:latin typeface="Calibri"/>
              </a:rPr>
              <a:t>Why This Is Buildable, Not Theoretical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4336" y="4045077"/>
            <a:ext cx="3630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1">
                <a:solidFill>
                  <a:srgbClr val="64748B"/>
                </a:solidFill>
                <a:latin typeface="Calibri"/>
              </a:rPr>
              <a:t>Every component (GFI, VRFB, PEM electrolyzer, DFIG turbines) is commercially available today — AURORA is a control + integration innovation, not unproven hardware.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77774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Team VoltForge  ·  AURORA  ·  Hybrid Hack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77774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6933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E7C86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4677"/>
            <a:ext cx="8321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mbria"/>
              </a:rPr>
              <a:t>AURORA: Carbon-Zero Black-Start in Under 90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5301"/>
            <a:ext cx="8321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Autonomous Unified Renewable Orchestration for Resilient Activation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9349"/>
            <a:ext cx="1561795" cy="13258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13941"/>
            <a:ext cx="14703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50" b="1" i="0">
                <a:solidFill>
                  <a:srgbClr val="12A4B0"/>
                </a:solidFill>
                <a:latin typeface="Cambria"/>
              </a:rPr>
              <a:t>&lt; 90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9429"/>
            <a:ext cx="13789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" b="0" i="0">
                <a:solidFill>
                  <a:srgbClr val="FFFFFF"/>
                </a:solidFill>
                <a:latin typeface="Calibri"/>
              </a:rPr>
              <a:t>grid restart — no diesel,</a:t>
            </a:r>
          </a:p>
          <a:p>
            <a:pPr algn="ctr">
              <a:lnSpc>
                <a:spcPct val="110000"/>
              </a:lnSpc>
            </a:pPr>
            <a:r>
              <a:rPr sz="840" b="0" i="0">
                <a:solidFill>
                  <a:srgbClr val="FFFFFF"/>
                </a:solidFill>
                <a:latin typeface="Calibri"/>
              </a:rPr>
              <a:t>no external reference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1291" y="1649349"/>
            <a:ext cx="1561795" cy="13258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7011" y="1813941"/>
            <a:ext cx="14703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50" b="1" i="0">
                <a:solidFill>
                  <a:srgbClr val="12A4B0"/>
                </a:solidFill>
                <a:latin typeface="Cambria"/>
              </a:rPr>
              <a:t>5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2731" y="2289429"/>
            <a:ext cx="13789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" b="0" i="0">
                <a:solidFill>
                  <a:srgbClr val="FFFFFF"/>
                </a:solidFill>
                <a:latin typeface="Calibri"/>
              </a:rPr>
              <a:t>Solar · Wind · Geothermal ·</a:t>
            </a:r>
          </a:p>
          <a:p>
            <a:pPr algn="ctr">
              <a:lnSpc>
                <a:spcPct val="110000"/>
              </a:lnSpc>
            </a:pPr>
            <a:r>
              <a:rPr sz="840" b="0" i="0">
                <a:solidFill>
                  <a:srgbClr val="FFFFFF"/>
                </a:solidFill>
                <a:latin typeface="Calibri"/>
              </a:rPr>
              <a:t>Hydrogen ·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1102" y="1649349"/>
            <a:ext cx="1561795" cy="13258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6822" y="1813941"/>
            <a:ext cx="14703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50" b="1" i="0">
                <a:solidFill>
                  <a:srgbClr val="12A4B0"/>
                </a:solidFill>
                <a:latin typeface="Cambria"/>
              </a:rPr>
              <a:t>$2.1M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2542" y="2289429"/>
            <a:ext cx="13789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" b="0" i="0">
                <a:solidFill>
                  <a:srgbClr val="FFFFFF"/>
                </a:solidFill>
                <a:latin typeface="Calibri"/>
              </a:rPr>
              <a:t>lifetime savings per site</a:t>
            </a:r>
          </a:p>
          <a:p>
            <a:pPr algn="ctr">
              <a:lnSpc>
                <a:spcPct val="110000"/>
              </a:lnSpc>
            </a:pPr>
            <a:r>
              <a:rPr sz="840" b="0" i="0">
                <a:solidFill>
                  <a:srgbClr val="FFFFFF"/>
                </a:solidFill>
                <a:latin typeface="Calibri"/>
              </a:rPr>
              <a:t>vs. diesel over 20 yrs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0913" y="1649349"/>
            <a:ext cx="1561795" cy="13258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6633" y="1813941"/>
            <a:ext cx="14703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50" b="1" i="0">
                <a:solidFill>
                  <a:srgbClr val="12A4B0"/>
                </a:solidFill>
                <a:latin typeface="Cambria"/>
              </a:rPr>
              <a:t>2,400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2353" y="2289429"/>
            <a:ext cx="13789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" b="0" i="0">
                <a:solidFill>
                  <a:srgbClr val="FFFFFF"/>
                </a:solidFill>
                <a:latin typeface="Calibri"/>
              </a:rPr>
              <a:t>CO₂ avoided per site</a:t>
            </a:r>
          </a:p>
          <a:p>
            <a:pPr algn="ctr">
              <a:lnSpc>
                <a:spcPct val="110000"/>
              </a:lnSpc>
            </a:pPr>
            <a:r>
              <a:rPr sz="840" b="0" i="0">
                <a:solidFill>
                  <a:srgbClr val="FFFFFF"/>
                </a:solidFill>
                <a:latin typeface="Calibri"/>
              </a:rPr>
              <a:t>per year at full operation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0724" y="1649349"/>
            <a:ext cx="1561795" cy="13258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6444" y="1813941"/>
            <a:ext cx="14703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50" b="1" i="0">
                <a:solidFill>
                  <a:srgbClr val="12A4B0"/>
                </a:solidFill>
                <a:latin typeface="Cambria"/>
              </a:rPr>
              <a:t>TRL 5–6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2164" y="2289429"/>
            <a:ext cx="13789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" b="0" i="0">
                <a:solidFill>
                  <a:srgbClr val="FFFFFF"/>
                </a:solidFill>
                <a:latin typeface="Calibri"/>
              </a:rPr>
              <a:t>commercial readiness</a:t>
            </a:r>
          </a:p>
          <a:p>
            <a:pPr algn="ctr">
              <a:lnSpc>
                <a:spcPct val="110000"/>
              </a:lnSpc>
            </a:pPr>
            <a:r>
              <a:rPr sz="840" b="0" i="0">
                <a:solidFill>
                  <a:srgbClr val="FFFFFF"/>
                </a:solidFill>
                <a:latin typeface="Calibri"/>
              </a:rPr>
              <a:t>projected 2027–2028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76397"/>
            <a:ext cx="8321040" cy="512064"/>
          </a:xfrm>
          <a:prstGeom prst="roundRect">
            <a:avLst>
              <a:gd name="adj" fmla="val 18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49549"/>
            <a:ext cx="7955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mbria"/>
              </a:rPr>
              <a:t>Every component is commercially available today — AURORA is ready for a 100 kW pilot deployment.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779901"/>
            <a:ext cx="8321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Team VoltForge  ·  Problem Statement 3: Black-Start Microgrid  ·  Hybrid Hack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