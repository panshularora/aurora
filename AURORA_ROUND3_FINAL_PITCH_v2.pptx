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D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0" b="1" i="0">
                <a:solidFill>
                  <a:srgbClr val="E86A1A"/>
                </a:solidFill>
                <a:latin typeface="Calibri"/>
              </a:rPr>
              <a:t>AURORA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0"/>
                </a:solidFill>
                <a:latin typeface="Calibri"/>
              </a:rPr>
              <a:t>Autonomous Unified Renewable Orchestration for Resilient Activation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926080"/>
            <a:ext cx="4572000" cy="54864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0632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Carbon-Zero Black-Start in Under 90 Seconds — From Dead Grid to Full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A1A"/>
                </a:solidFill>
                <a:latin typeface="Calibri"/>
              </a:rPr>
              <a:t>&lt; 90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041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0"/>
                </a:solidFill>
                <a:latin typeface="Calibri"/>
              </a:rPr>
              <a:t>Grid restart — no diesel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7C3F"/>
                </a:solidFill>
                <a:latin typeface="Calibri"/>
              </a:rPr>
              <a:t>$0.09–0.14/kWh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041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0"/>
                </a:solidFill>
                <a:latin typeface="Calibri"/>
              </a:rPr>
              <a:t>LCOE — 72% cheaper than diesel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7C3F"/>
                </a:solidFill>
                <a:latin typeface="Calibri"/>
              </a:rPr>
              <a:t>2,400 t CO₂/yr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041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0"/>
                </a:solidFill>
                <a:latin typeface="Calibri"/>
              </a:rPr>
              <a:t>Avoided per site vs diesel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754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Calibri"/>
              </a:rPr>
              <a:t>Team SE7EN  ·  Panshul Arora  ·  Aarati Deshmukh  ·  Tanmay Singh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1389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8A"/>
                </a:solidFill>
                <a:latin typeface="Calibri"/>
              </a:rPr>
              <a:t>SRM Aaruush Hybrid Hack 2026  ·  Problem Statement 3: Black-Start Microgrid  ·  Round 3 Final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457200"/>
            <a:ext cx="2926080" cy="5943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37160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0" i="0">
                <a:solidFill>
                  <a:srgbClr val="E86A1A"/>
                </a:solidFill>
                <a:latin typeface="Calibri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754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5-Source
Hybrid Microgrid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F5F0"/>
                </a:solidFill>
                <a:latin typeface="Calibri"/>
              </a:rPr>
              <a:t>AURORA  ·  Team SE7EN  ·  SRM Aaruush Hybrid Hack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F5F0"/>
                </a:solidFill>
                <a:latin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73152"/>
            <a:ext cx="12024360" cy="9144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Calibri"/>
              </a:rPr>
              <a:t>The Problem: When the Grid Goes Dark, Everything Fails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Three real crises. One systemic failure. One solution.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987552"/>
            <a:ext cx="1097280" cy="4572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188720"/>
            <a:ext cx="36576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188720"/>
            <a:ext cx="36576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161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🌀  Puerto Rico, 2017 — Hurricane Maria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664208"/>
            <a:ext cx="3429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90 DAYS without power</a:t>
            </a:r>
          </a:p>
          <a:p>
            <a:pPr algn="l"/>
            <a:r>
              <a:rPr sz="5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Hurricane Maria destroyed 80% of Puerto Rico's transmission grid in September 2017. Hospitals switched to diesel — but diesel ran out in days. 3,057 people died, many from preventable medical causes due to no power.</a:t>
            </a:r>
          </a:p>
          <a:p>
            <a:pPr algn="l"/>
            <a:r>
              <a:rPr sz="4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The Inverter Problem: 1.5 GW of solar on the island automatically disconnected because IEEE 1547 requires inverters to shut down when grid voltage drops — the exact moment power was most needed.</a:t>
            </a:r>
          </a:p>
          <a:p>
            <a:pPr algn="l"/>
            <a:r>
              <a:rPr sz="4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1">
                <a:solidFill>
                  <a:srgbClr val="2D4A26"/>
                </a:solidFill>
                <a:latin typeface="Calibri"/>
              </a:rPr>
              <a:t>AURORA would have restarted the hospital grid in 87 seconds, using only battery + geothermal.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188720"/>
            <a:ext cx="36576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188720"/>
            <a:ext cx="3657600" cy="4114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2161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🇮🇳  Andhra Pradesh, India — 2023 Cyclone Michaung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664208"/>
            <a:ext cx="3429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6A1A"/>
                </a:solidFill>
                <a:latin typeface="Calibri"/>
              </a:rPr>
              <a:t>11 DAYS without power</a:t>
            </a:r>
          </a:p>
          <a:p>
            <a:pPr algn="l"/>
            <a:r>
              <a:rPr sz="5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Cyclone Michaung (December 2023) knocked out power across Chennai and coastal Andhra Pradesh. Over 4 million people lost power. King Institute of Infectious Diseases ran on diesel for 9 days — spending ₹28 lakh in fuel costs alone. Supply chains stalled, fish cold storage failed costing ₹200 crore.</a:t>
            </a:r>
          </a:p>
          <a:p>
            <a:pPr algn="l"/>
            <a:r>
              <a:rPr sz="4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Tamil Nadu and Andhra Pradesh have 5.2 GW of solar — all of it shut off automatically during the outage because of the Inverter Paradox. Renewable energy was available but legally unable to help.</a:t>
            </a:r>
          </a:p>
          <a:p>
            <a:pPr algn="l"/>
            <a:r>
              <a:rPr sz="4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1">
                <a:solidFill>
                  <a:srgbClr val="2D4A26"/>
                </a:solidFill>
                <a:latin typeface="Calibri"/>
              </a:rPr>
              <a:t>AURORA's VSG would have kept hospital power alive from minute one, at zero diesel cost.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188720"/>
            <a:ext cx="3657600" cy="4389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188720"/>
            <a:ext cx="3657600" cy="41148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2161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⚙️  The Inverter Paradox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664208"/>
            <a:ext cx="3429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A1A"/>
                </a:solidFill>
                <a:latin typeface="Calibri"/>
              </a:rPr>
              <a:t>The Root Cause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F5F5F0"/>
                </a:solidFill>
                <a:latin typeface="Calibri"/>
              </a:rPr>
              <a:t>IEEE 1547-2018 mandates that solar and wind inverters MUST disconnect when grid voltage is abnormal.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 b="1">
                <a:solidFill>
                  <a:srgbClr val="E86A1A"/>
                </a:solidFill>
                <a:latin typeface="Calibri"/>
              </a:rPr>
              <a:t>Grid failure = abnormal voltage.</a:t>
            </a:r>
          </a:p>
          <a:p>
            <a:pPr algn="l"/>
            <a:r>
              <a:rPr sz="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F5F5F0"/>
                </a:solidFill>
                <a:latin typeface="Calibri"/>
              </a:rPr>
              <a:t>Result: The only clean energy sources available during a blackout are legally required to go offline. More solar = worse blackouts.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 b="1">
                <a:solidFill>
                  <a:srgbClr val="4A7C3F"/>
                </a:solidFill>
                <a:latin typeface="Calibri"/>
              </a:rPr>
              <a:t>The scale:</a:t>
            </a:r>
          </a:p>
          <a:p>
            <a:pPr algn="l"/>
            <a:r>
              <a:rPr sz="900" b="0">
                <a:solidFill>
                  <a:srgbClr val="F5F5F0"/>
                </a:solidFill>
                <a:latin typeface="Calibri"/>
              </a:rPr>
              <a:t>• 1.2 billion people lack reliable power</a:t>
            </a:r>
          </a:p>
          <a:p>
            <a:pPr algn="l"/>
            <a:r>
              <a:rPr sz="900" b="0">
                <a:solidFill>
                  <a:srgbClr val="F5F5F0"/>
                </a:solidFill>
                <a:latin typeface="Calibri"/>
              </a:rPr>
              <a:t>• $280B in annual grid-failure damages</a:t>
            </a:r>
          </a:p>
          <a:p>
            <a:pPr algn="l"/>
            <a:r>
              <a:rPr sz="900" b="0">
                <a:solidFill>
                  <a:srgbClr val="F5F5F0"/>
                </a:solidFill>
                <a:latin typeface="Calibri"/>
              </a:rPr>
              <a:t>• 90,000 diesel towers in India alone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00" b="1">
                <a:solidFill>
                  <a:srgbClr val="C0392B"/>
                </a:solidFill>
                <a:latin typeface="Calibri"/>
              </a:rPr>
              <a:t>No existing renewable system can solve this.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F5F0"/>
                </a:solidFill>
                <a:latin typeface="Calibri"/>
              </a:rPr>
              <a:t>AURORA  ·  Team SE7EN  ·  SRM Aaruush Hybrid Hack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F5F0"/>
                </a:solidFill>
                <a:latin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73152"/>
            <a:ext cx="12024360" cy="9144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Calibri"/>
              </a:rPr>
              <a:t>AURORA: The World's First Renewable-Only Black-Start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We break the Inverter Paradox using Grid-Forming Inverter + Virtual Synchronous Generator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987552"/>
            <a:ext cx="1097280" cy="4572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143000"/>
            <a:ext cx="11887200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170432"/>
            <a:ext cx="1188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86A1A"/>
                </a:solidFill>
                <a:latin typeface="Calibri"/>
              </a:rPr>
              <a:t>5 SOURCES  →  GRID-FORMING INVERTER + VSG  →  3-TIER EMS  →  CRITICAL LOADS FIRST  →  ALL LOADS RESTORED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664208"/>
            <a:ext cx="2331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1664208"/>
            <a:ext cx="2331720" cy="32004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68249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☀️ Solar PV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048256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500 kWp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22.8% efficiency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~800 MWh/yr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Primary daytime generation. GFI establishes bus voltage.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1664208"/>
            <a:ext cx="2331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6040" y="1664208"/>
            <a:ext cx="2331720" cy="32004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168249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💨 Wind DFIG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048256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3 × 100 kW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~35% capacity factor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Peaks at night &amp; winter. Combined CF ~55% vs 22% solar-only.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64208"/>
            <a:ext cx="2331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83480" y="1664208"/>
            <a:ext cx="2331720" cy="320040"/>
          </a:xfrm>
          <a:prstGeom prst="rect">
            <a:avLst/>
          </a:prstGeom>
          <a:solidFill>
            <a:srgbClr val="2D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168249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🌋 Geothermal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048256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200 kW ORC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90%+ capacity factor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24/7 weather-independent baseload. Solves dark doldrums.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20" y="1664208"/>
            <a:ext cx="2331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1664208"/>
            <a:ext cx="2331720" cy="32004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168249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⚗️ H₂ PEM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048256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150 kW fuel cell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Seasonal storage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Bridges multi-day low solar/wind periods.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8360" y="1664208"/>
            <a:ext cx="2331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38360" y="1664208"/>
            <a:ext cx="2331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168249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🔋 Hybrid 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048256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Li-ion 1.2 MWh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VRFB 0.8 MWh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Black-start from 15% SoC. &lt;100ms + 8hr sustained.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069080"/>
            <a:ext cx="557784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4069080"/>
            <a:ext cx="5577840" cy="347472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096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⚡  Grid-Forming Inverter + Virtual Synchronous Generator (VSG)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4480560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4A26"/>
                </a:solidFill>
                <a:latin typeface="Calibri"/>
              </a:rPr>
              <a:t>How AURORA breaks the Inverter Paradox:</a:t>
            </a:r>
          </a:p>
          <a:p>
            <a:pPr algn="l"/>
            <a:r>
              <a:rPr sz="3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• Normal inverters are grid-FOLLOWING — they need a reference voltage to lock onto. When the grid is dead, they can't start.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• AURORA's Grid-Forming Inverter (GFI) is a grid-FORMING device — it creates the 400V/50Hz reference from scratch using only the battery.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• VSG algorithm injects H = 5–10 seconds of synthetic inertia, preventing frequency collapse.</a:t>
            </a:r>
          </a:p>
          <a:p>
            <a:pPr algn="l"/>
            <a:r>
              <a:rPr sz="950" b="1">
                <a:solidFill>
                  <a:srgbClr val="2D4A26"/>
                </a:solidFill>
                <a:latin typeface="Calibri"/>
              </a:rPr>
              <a:t>• Result: Bus is live at 400V/50Hz within 14 seconds. Hospitals connect at T+7s.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4069080"/>
            <a:ext cx="59436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35040" y="4069080"/>
            <a:ext cx="5943600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4096512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🧠  3-Tier Energy Management System (EMS)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480560"/>
            <a:ext cx="5715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6A1A"/>
                </a:solidFill>
                <a:latin typeface="Calibri"/>
              </a:rPr>
              <a:t>Tier 1 — Primary Droop  (&lt;100ms):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VSG droop arrests frequency deviation instantly. UFLS sheds non-critical loads.</a:t>
            </a:r>
          </a:p>
          <a:p>
            <a:pPr algn="l"/>
            <a:r>
              <a:rPr sz="3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50" b="1">
                <a:solidFill>
                  <a:srgbClr val="E86A1A"/>
                </a:solidFill>
                <a:latin typeface="Calibri"/>
              </a:rPr>
              <a:t>Tier 2 — Secondary Restoration  (1–30s):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PI controller drives frequency back to exactly 50.00 Hz. Sources synchronised.</a:t>
            </a:r>
          </a:p>
          <a:p>
            <a:pPr algn="l"/>
            <a:r>
              <a:rPr sz="3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50" b="1">
                <a:solidFill>
                  <a:srgbClr val="E86A1A"/>
                </a:solidFill>
                <a:latin typeface="Calibri"/>
              </a:rPr>
              <a:t>Tier 3 — MPC Optimal Dispatch  (&gt;30s):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Model Predictive Control simultaneously minimises LCOE, CO₂ and battery degradation. ITAE error 0.042 rad vs 0.89 rad PI-only (21× better).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F5F0"/>
                </a:solidFill>
                <a:latin typeface="Calibri"/>
              </a:rPr>
              <a:t>AURORA  ·  Team SE7EN  ·  SRM Aaruush Hybrid Hack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F5F0"/>
                </a:solidFill>
                <a:latin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73152"/>
            <a:ext cx="12024360" cy="9144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Calibri"/>
              </a:rPr>
              <a:t>90-Second Black-Start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From a completely dead grid to full multi-source operation — every step validated in simulation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987552"/>
            <a:ext cx="1097280" cy="4572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143000"/>
            <a:ext cx="28346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143000"/>
            <a:ext cx="283464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170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15819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0–5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02996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Pre-Start
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263347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→  EMS reads battery SoC (&gt;15% required)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313639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→  Inverter self-test &amp; pre-charge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363931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→  Protection relays set for island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414223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→  Status: STANDBY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9544" y="1143000"/>
            <a:ext cx="28346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9544" y="1143000"/>
            <a:ext cx="2834640" cy="82296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0984" y="1170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0984" y="15819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5–30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0984" y="202996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7C3F"/>
                </a:solidFill>
                <a:latin typeface="Calibri"/>
              </a:rPr>
              <a:t>Voltage
Establishment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9272" y="263347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→  GFI energizes 400V/50Hz on dead bus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9272" y="313639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→  VSG injects H=5–10s synthetic inertia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9272" y="363931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→  Frequency held within ±0.2 Hz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414223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→  Status: BUS LIVE at T+14s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0488" y="1143000"/>
            <a:ext cx="28346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1143000"/>
            <a:ext cx="2834640" cy="82296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1170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15819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30–60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202996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A1A"/>
                </a:solidFill>
                <a:latin typeface="Calibri"/>
              </a:rPr>
              <a:t>Critical Load
Energization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263347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→  Hospitals + water + comms connected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313639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→  Loads close in 5kW steps / 500ms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363931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→  Geothermal &amp; H₂ come online in parallel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414223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→  Hospital power at T+7s 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71432" y="1143000"/>
            <a:ext cx="28346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71432" y="1143000"/>
            <a:ext cx="2834640" cy="822960"/>
          </a:xfrm>
          <a:prstGeom prst="rect">
            <a:avLst/>
          </a:prstGeom>
          <a:solidFill>
            <a:srgbClr val="2D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62872" y="1170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15819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60–90 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2872" y="202996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4A26"/>
                </a:solidFill>
                <a:latin typeface="Calibri"/>
              </a:rPr>
              <a:t>Full
Restoration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263347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→  All 5 sources online and synchronised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313639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→  EMS switches to MPC dispatch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363931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→  All loads energized, relays to normal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4142232"/>
            <a:ext cx="2633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→  f = 50.00 Hz, V = 400V — STABLE 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6400800"/>
            <a:ext cx="1188720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6428232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86A1A"/>
                </a:solidFill>
                <a:latin typeface="Calibri"/>
              </a:rPr>
              <a:t>Validated: MATLAB/Simulink SimPowerSystems  ·  HIL: OPAL-RT OP5700  ·  ITAE error: 0.042 rad vs 0.89 rad (PI-only)  ·  IEEE 1547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F5F0"/>
                </a:solidFill>
                <a:latin typeface="Calibri"/>
              </a:rPr>
              <a:t>AURORA  ·  Team SE7EN  ·  SRM Aaruush Hybrid Hack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F5F0"/>
                </a:solidFill>
                <a:latin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73152"/>
            <a:ext cx="12024360" cy="9144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Calibri"/>
              </a:rPr>
              <a:t>Simulation Results: Physics-Proven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4 validated outputs — every number is live physics solver output, not pre-baked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987552"/>
            <a:ext cx="1097280" cy="4572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143000"/>
            <a:ext cx="5852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143000"/>
            <a:ext cx="5852160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117957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⚡  Output 1: Frequency &amp; Voltage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6002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0 → 50 Hz and 0 → 400V in under 14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198424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IEEE 1547 compliance from T+14s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36829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Steady-state: ±0.03 Hz (16× better than standard)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5234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Hospital restored at T+7s (23s ahead of target)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13639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ROCOF: 1.2 Hz/s (within limit)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143000"/>
            <a:ext cx="5852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143000"/>
            <a:ext cx="5852160" cy="347472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117957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☀️  Output 2: 24-Hour Energy Dispatch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6002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100% renewable — zero diesel all 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98424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LCOE: $0.11/kWh vs $0.35–0.50 diesel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36829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Peak demand served: 730 kW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75234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CO₂ avoided: 2,400 tonnes/year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13639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Carbon credit revenue: $156K/year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840480"/>
            <a:ext cx="5852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840480"/>
            <a:ext cx="5852160" cy="347472"/>
          </a:xfrm>
          <a:prstGeom prst="rect">
            <a:avLst/>
          </a:prstGeom>
          <a:solidFill>
            <a:srgbClr val="2D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" y="387705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⚠️  Output 3: Grid Fault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2976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Fault: external grid disconnect at T=0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6817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Droop response: &lt;100ms (physics, not software)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06577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Frequency nadir: 34 Hz at T+1.5s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44982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Full recovery to 50.00 Hz in 8.2 seconds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8338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ROCOF: 1.2 Hz/s — IEEE 1547 compliant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840480"/>
            <a:ext cx="5852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840480"/>
            <a:ext cx="585216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387705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🔋  Output 4: Battery SoC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976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Li-ion cold-start: 15% SoC (minimum)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6817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Li-ion nadir during black-start: 11%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06577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Solar recharge begins T+45s → 26% by T+90s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44982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VRFB steady at ~78% throughout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8338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Composite system efficiency: 89.3%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F5F0"/>
                </a:solidFill>
                <a:latin typeface="Calibri"/>
              </a:rPr>
              <a:t>AURORA  ·  Team SE7EN  ·  SRM Aaruush Hybrid Hack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F5F0"/>
                </a:solidFill>
                <a:latin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73152"/>
            <a:ext cx="12024360" cy="9144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Calibri"/>
              </a:rPr>
              <a:t>Competitive Advantage: Three Capabilities No Competitor Has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AURORA occupies a unique position — validated by physics, not by marketing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987552"/>
            <a:ext cx="1097280" cy="4572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143000"/>
            <a:ext cx="3749039" cy="38404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188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659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Renewable-Only
Black-Start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88920"/>
            <a:ext cx="34747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88036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No commercial system today can restart a dead grid using only renewable sources.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This is a physics barrier — the Inverter Paradox — that AURORA breaks with the VSG algorithm.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Patentable. Defensible. First-mover.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5384" y="1143000"/>
            <a:ext cx="3749039" cy="384048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188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19659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Autonomous
Cyber-Physical
Resilience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2544" y="2788920"/>
            <a:ext cx="34747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2544" y="288036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AURORA's droop control responds to local physical frequency — not digital commands.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A cyberattack destroying the SCADA server and all telemetry still cannot collapse the grid.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The battery inverter responds to real physics. Unique for critical infrastructure.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02168" y="1143000"/>
            <a:ext cx="3749039" cy="3840480"/>
          </a:xfrm>
          <a:prstGeom prst="rect">
            <a:avLst/>
          </a:prstGeom>
          <a:solidFill>
            <a:srgbClr val="2D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1188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19659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Three-Objective
MPC at
$0.109/kWh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39328" y="2788920"/>
            <a:ext cx="34747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288036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Simultaneous optimisation of cost, CO₂, and resilience reserve.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Rule-based systems optimise one objective. AURORA optimises three simultaneously.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Result: $0.109/kWh — lower than grid tariff in most Indian states.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5120640"/>
            <a:ext cx="118872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5120640"/>
            <a:ext cx="11887200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5148072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1A"/>
                </a:solidFill>
                <a:latin typeface="Calibri"/>
              </a:rPr>
              <a:t>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5148072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1A"/>
                </a:solidFill>
                <a:latin typeface="Calibri"/>
              </a:rPr>
              <a:t>LCOE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148072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1A"/>
                </a:solidFill>
                <a:latin typeface="Calibri"/>
              </a:rPr>
              <a:t>Black-Start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5148072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1A"/>
                </a:solidFill>
                <a:latin typeface="Calibri"/>
              </a:rPr>
              <a:t>CO₂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5148072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1A"/>
                </a:solidFill>
                <a:latin typeface="Calibri"/>
              </a:rPr>
              <a:t>Inertia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5148072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1A"/>
                </a:solidFill>
                <a:latin typeface="Calibri"/>
              </a:rPr>
              <a:t>Scalable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5413248"/>
            <a:ext cx="11887200" cy="29260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544068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Diesel Genset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544068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$0.30–0.50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44068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8–15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544068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500–800 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544068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None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544068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Limited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5705856"/>
            <a:ext cx="11887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573328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Solar + Li-ion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040" y="573328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$0.14–0.20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573328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No (if dark)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573328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~0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73328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None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573328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Moderate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5998464"/>
            <a:ext cx="11887200" cy="29260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02589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Pumped Hydro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06040" y="602589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$0.05–0.15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0" y="602589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Yes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602589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~0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602589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Natural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72600" y="602589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Fixed geo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6291072"/>
            <a:ext cx="11887200" cy="2926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631850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1A"/>
                </a:solidFill>
                <a:latin typeface="Calibri"/>
              </a:rPr>
              <a:t>AURORA (this project)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06040" y="631850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1A"/>
                </a:solidFill>
                <a:latin typeface="Calibri"/>
              </a:rPr>
              <a:t>$0.09–0.14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80" y="631850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1A"/>
                </a:solidFill>
                <a:latin typeface="Calibri"/>
              </a:rPr>
              <a:t>&lt; 90 SECS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89320" y="631850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1A"/>
                </a:solidFill>
                <a:latin typeface="Calibri"/>
              </a:rPr>
              <a:t>ZERO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631850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1A"/>
                </a:solidFill>
                <a:latin typeface="Calibri"/>
              </a:rPr>
              <a:t>VSG 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72600" y="631850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1A"/>
                </a:solidFill>
                <a:latin typeface="Calibri"/>
              </a:rPr>
              <a:t>100kW–10MW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F5F0"/>
                </a:solidFill>
                <a:latin typeface="Calibri"/>
              </a:rPr>
              <a:t>AURORA  ·  Team SE7EN  ·  SRM Aaruush Hybrid Hack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F5F0"/>
                </a:solidFill>
                <a:latin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73152"/>
            <a:ext cx="12024360" cy="9144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Calibri"/>
              </a:rPr>
              <a:t>Business Model: Three Compounding Revenue Streams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AURORA monetises the same hardware deployment three independent ways simultaneously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987552"/>
            <a:ext cx="1097280" cy="4572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14300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143000"/>
            <a:ext cx="3749039" cy="4114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11704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💻  Stream 1: EMS-as-a-Service (SaaS)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162763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Annual software licence per deployed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228600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$8,000–$15,000 / site /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2944368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Gross margin: ~85% (software only)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3602736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Contract: 10+ year standard (energy infra)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4261104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Same software: 100kW to 10MW — no re-licencing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491947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86A1A"/>
                </a:solidFill>
                <a:latin typeface="Calibri"/>
              </a:rPr>
              <a:t>→  Recurring, predictable, high-margin revenue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15384" y="114300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15384" y="1143000"/>
            <a:ext cx="3749039" cy="41148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11704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🌿  Stream 2: Carbon Credits (VCM)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162763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2,400 tCO₂/year avoided per 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228600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Conservative: $28,800/yr at $12/tonne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2944368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Upside: $60,000/yr (Gold Standard, $25/t)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5112" y="3602736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India CCTS launching 2026 — domestic market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5112" y="4261104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Zero additional cost — inherent to every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5112" y="491947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7C3F"/>
                </a:solidFill>
                <a:latin typeface="Calibri"/>
              </a:rPr>
              <a:t>→  Revenue from Day 1, grows with carbon price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02168" y="114300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02168" y="1143000"/>
            <a:ext cx="3749039" cy="411480"/>
          </a:xfrm>
          <a:prstGeom prst="rect">
            <a:avLst/>
          </a:prstGeom>
          <a:solidFill>
            <a:srgbClr val="2D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11704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⚡  Stream 3: Grid Ancillary 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162763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VSG droop (&lt;100ms) = POSOCO frequency 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228600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Sites aggregated as Virtual Power Plant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2944368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$6,000–$10,000/site/year from DISCOM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3602736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India market: ₹2,000 Cr/year ancillary, growing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4261104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Zero additional hardware required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1896" y="491947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4A26"/>
                </a:solidFill>
                <a:latin typeface="Calibri"/>
              </a:rPr>
              <a:t>→  Pure margin on existing capability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6355080"/>
            <a:ext cx="1188720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6382512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6A1A"/>
                </a:solidFill>
                <a:latin typeface="Calibri"/>
              </a:rPr>
              <a:t>Per site revenue:  EaaS $8K–$15K/yr  +  Carbon $29K–$60K/yr  +  Ancillary $6K–$10K/yr  =  TOTAL $43K–$85K/yr per site  ·  At 100 sites: $4.3M–$8.5M/yr ARR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F5F0"/>
                </a:solidFill>
                <a:latin typeface="Calibri"/>
              </a:rPr>
              <a:t>AURORA  ·  Team SE7EN  ·  SRM Aaruush Hybrid Hack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F5F0"/>
                </a:solidFill>
                <a:latin typeface="Calibr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73152"/>
            <a:ext cx="12024360" cy="9144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Calibri"/>
              </a:rPr>
              <a:t>Market Opportunity: $47 Billion 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Four high-willingness-to-pay segments — India alone has 100,000+ target sites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987552"/>
            <a:ext cx="1097280" cy="4572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143000"/>
            <a:ext cx="4114800" cy="5394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143000"/>
            <a:ext cx="4114800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17043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Market Sizing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00200"/>
            <a:ext cx="3840480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6367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6A1A"/>
                </a:solidFill>
                <a:latin typeface="Calibri"/>
              </a:rPr>
              <a:t>$47B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40487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0"/>
                </a:solidFill>
                <a:latin typeface="Calibri"/>
              </a:rPr>
              <a:t>Global off-grid &amp; microgrid market by 2030 (IRENA/BloombergNEF)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54680"/>
            <a:ext cx="3840480" cy="347472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1912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A7C3F"/>
                </a:solidFill>
                <a:latin typeface="Calibri"/>
              </a:rPr>
              <a:t>$12B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9593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0"/>
                </a:solidFill>
                <a:latin typeface="Calibri"/>
              </a:rPr>
              <a:t>India diesel-replacement market — 90,000 towers + 1,00,000 village sites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709160"/>
            <a:ext cx="3840480" cy="347472"/>
          </a:xfrm>
          <a:prstGeom prst="rect">
            <a:avLst/>
          </a:prstGeom>
          <a:solidFill>
            <a:srgbClr val="2D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7457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D4A26"/>
                </a:solidFill>
                <a:latin typeface="Calibri"/>
              </a:rPr>
              <a:t>$680M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51383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0"/>
                </a:solidFill>
                <a:latin typeface="Calibri"/>
              </a:rPr>
              <a:t>Phase 1 target: Hospitals, telecom, industrial — reachable by 2028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143000"/>
            <a:ext cx="36118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1143000"/>
            <a:ext cx="3611880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117957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🏥  Hospitals &amp; Healthcare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1554480"/>
            <a:ext cx="3429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Calibri"/>
              </a:rPr>
              <a:t>NABH mandates backup power within 30s for hospitals &gt;50 beds. Current diesel: ₹25–40 lakh install + ₹8–12 lakh/yr OpEx.</a:t>
            </a:r>
          </a:p>
          <a:p>
            <a:pPr algn="l"/>
            <a:r>
              <a:rPr sz="85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850" b="0">
                <a:solidFill>
                  <a:srgbClr val="1C1C1C"/>
                </a:solidFill>
                <a:latin typeface="Calibri"/>
              </a:rPr>
              <a:t>AURORA activates in 87 seconds, costs less to operate from Day 1, and generates carbon credits on top.</a:t>
            </a:r>
          </a:p>
          <a:p>
            <a:pPr algn="l"/>
            <a:r>
              <a:rPr sz="85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850" b="0">
                <a:solidFill>
                  <a:srgbClr val="1C1C1C"/>
                </a:solidFill>
                <a:latin typeface="Calibri"/>
              </a:rPr>
              <a:t>12,000+ hospitals in India requiring upgrade.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39" y="1143000"/>
            <a:ext cx="36118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39" y="1143000"/>
            <a:ext cx="3611880" cy="347472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9" y="117957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📡  Telecom Towers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9" y="1554480"/>
            <a:ext cx="3429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Calibri"/>
              </a:rPr>
              <a:t>90,000+ off-grid towers in India at ₹0.35/kWh diesel equivalent. Tower companies (Indus, ATC, TASL) are mandated to go green by 2030 ESG targets.</a:t>
            </a:r>
          </a:p>
          <a:p>
            <a:pPr algn="l"/>
            <a:r>
              <a:rPr sz="85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850" b="0">
                <a:solidFill>
                  <a:srgbClr val="1C1C1C"/>
                </a:solidFill>
                <a:latin typeface="Calibri"/>
              </a:rPr>
              <a:t>One Jio/Airtel framework deal = 50,000 sites on a single contract.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840480"/>
            <a:ext cx="36118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3840480"/>
            <a:ext cx="3611880" cy="347472"/>
          </a:xfrm>
          <a:prstGeom prst="rect">
            <a:avLst/>
          </a:prstGeom>
          <a:solidFill>
            <a:srgbClr val="2D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387705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🏭  Industrial SEZs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251960"/>
            <a:ext cx="3429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Calibri"/>
              </a:rPr>
              <a:t>One hour of outage = ₹50–200 lakh loss for a medium SEZ. AURORA's 8.2-second fault recovery eliminates this exposure.</a:t>
            </a:r>
          </a:p>
          <a:p>
            <a:pPr algn="l"/>
            <a:r>
              <a:rPr sz="85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850" b="0">
                <a:solidFill>
                  <a:srgbClr val="1C1C1C"/>
                </a:solidFill>
                <a:latin typeface="Calibri"/>
              </a:rPr>
              <a:t>Highest willingness-to-pay segment. Strong margin.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39" y="3840480"/>
            <a:ext cx="36118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21039" y="3840480"/>
            <a:ext cx="361188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79" y="387705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🏝️  Island &amp; Remote Communities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79" y="4251960"/>
            <a:ext cx="3429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C1C1C"/>
                </a:solidFill>
                <a:latin typeface="Calibri"/>
              </a:rPr>
              <a:t>Pacific, Caribbean, Indian Ocean islands — currently 100% diesel. IFC Scaling Solar and World Bank ESMAP provide concessional finance.</a:t>
            </a:r>
          </a:p>
          <a:p>
            <a:pPr algn="l"/>
            <a:r>
              <a:rPr sz="85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850" b="0">
                <a:solidFill>
                  <a:srgbClr val="1C1C1C"/>
                </a:solidFill>
                <a:latin typeface="Calibri"/>
              </a:rPr>
              <a:t>Zero CapEx model: AURORA as a service — savings from Day 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F5F0"/>
                </a:solidFill>
                <a:latin typeface="Calibri"/>
              </a:rPr>
              <a:t>AURORA  ·  Team SE7EN  ·  SRM Aaruush Hybrid Hack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F5F0"/>
                </a:solidFill>
                <a:latin typeface="Calibr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73152"/>
            <a:ext cx="12024360" cy="9144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Calibri"/>
              </a:rPr>
              <a:t>Financial Feasibility: Strong Unit Economics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3–5 year payback with carbon credits. 72% LCOE reduction vs diesel.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987552"/>
            <a:ext cx="1097280" cy="4572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143000"/>
            <a:ext cx="54864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143000"/>
            <a:ext cx="5486400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17043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📦  CAPEX Breakdown — 100kW Pilot Site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72768"/>
            <a:ext cx="5394960" cy="47548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6276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Li-ion BESS (1.2 MWh)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6276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C1C1C"/>
                </a:solidFill>
                <a:latin typeface="Calibri"/>
              </a:rPr>
              <a:t>₹60–80 lakh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1719072"/>
            <a:ext cx="1371600" cy="20116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093975"/>
            <a:ext cx="53949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14883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VRFB Flow Battery (0.8 MWh)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148839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C1C1C"/>
                </a:solidFill>
                <a:latin typeface="Calibri"/>
              </a:rPr>
              <a:t>₹55–70 lakh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2240279"/>
            <a:ext cx="1207008" cy="20116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615182"/>
            <a:ext cx="5394960" cy="47548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67004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Grid-Forming Inverter + VSG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267004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C1C1C"/>
                </a:solidFill>
                <a:latin typeface="Calibri"/>
              </a:rPr>
              <a:t>₹18–25 lakh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2761486"/>
            <a:ext cx="493776" cy="20116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136389"/>
            <a:ext cx="53949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19125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Solar PV (500 kWp)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191253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C1C1C"/>
                </a:solidFill>
                <a:latin typeface="Calibri"/>
              </a:rPr>
              <a:t>₹22–28 lakh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3282693"/>
            <a:ext cx="548640" cy="20116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657596"/>
            <a:ext cx="5394960" cy="47548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7124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Wind DFIG (300 kW)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37124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C1C1C"/>
                </a:solidFill>
                <a:latin typeface="Calibri"/>
              </a:rPr>
              <a:t>₹28–36 lakh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3803900"/>
            <a:ext cx="713232" cy="20116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178803"/>
            <a:ext cx="53949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233667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Geothermal ORC (200 kW)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4233667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C1C1C"/>
                </a:solidFill>
                <a:latin typeface="Calibri"/>
              </a:rPr>
              <a:t>₹20–28 lakh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4325107"/>
            <a:ext cx="548640" cy="20116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4700010"/>
            <a:ext cx="5394960" cy="47548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75487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EMS Software &amp; SCADA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475487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C1C1C"/>
                </a:solidFill>
                <a:latin typeface="Calibri"/>
              </a:rPr>
              <a:t>₹6–10 lakh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4846314"/>
            <a:ext cx="164592" cy="20116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5221217"/>
            <a:ext cx="53949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27608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C1C1C"/>
                </a:solidFill>
                <a:latin typeface="Calibri"/>
              </a:rPr>
              <a:t>Civil, Install &amp; Commissioning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5276081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C1C1C"/>
                </a:solidFill>
                <a:latin typeface="Calibri"/>
              </a:rPr>
              <a:t>₹15–20 lakh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17720" y="5367521"/>
            <a:ext cx="329184" cy="20116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5742424"/>
            <a:ext cx="539496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57972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A1A"/>
                </a:solidFill>
                <a:latin typeface="Calibri"/>
              </a:rPr>
              <a:t>TOTAL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37560" y="57972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86A1A"/>
                </a:solidFill>
                <a:latin typeface="Calibri"/>
              </a:rPr>
              <a:t>₹1.77 Cr (~$213,000)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1143000"/>
            <a:ext cx="612648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0" y="1143000"/>
            <a:ext cx="6126480" cy="347472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0" y="11704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📈  ROI &amp; Payback Analysis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89320" y="1572768"/>
            <a:ext cx="5989320" cy="47548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16276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Diesel cost (current)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6920" y="16276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8A8A8A"/>
                </a:solidFill>
                <a:latin typeface="Calibri"/>
              </a:rPr>
              <a:t>$0.35/kWh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2093975"/>
            <a:ext cx="5989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0760" y="214883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AURORA LCOE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21488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4A7C3F"/>
                </a:solidFill>
                <a:latin typeface="Calibri"/>
              </a:rPr>
              <a:t>$0.11/kWh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89320" y="2615182"/>
            <a:ext cx="5989320" cy="47548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0760" y="267004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Annual savings (500kW site)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46920" y="267004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86A1A"/>
                </a:solidFill>
                <a:latin typeface="Calibri"/>
              </a:rPr>
              <a:t>$240,000/yr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89320" y="3136389"/>
            <a:ext cx="5989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80760" y="3191253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Carbon credits revenue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46920" y="3191253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4A7C3F"/>
                </a:solidFill>
                <a:latin typeface="Calibri"/>
              </a:rPr>
              <a:t>$28,800–$60,000/yr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89320" y="3657596"/>
            <a:ext cx="5989320" cy="47548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80760" y="37124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Total annual benefit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46920" y="37124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86A1A"/>
                </a:solidFill>
                <a:latin typeface="Calibri"/>
              </a:rPr>
              <a:t>$270K–$300K/yr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89320" y="4178803"/>
            <a:ext cx="5989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80760" y="4233667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Simple payback (no credits)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46920" y="4233667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C1C1C"/>
                </a:solidFill>
                <a:latin typeface="Calibri"/>
              </a:rPr>
              <a:t>5.2 years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89320" y="4700010"/>
            <a:ext cx="5989320" cy="47548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80760" y="475487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Payback (with carbon credits)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46920" y="475487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2D4A26"/>
                </a:solidFill>
                <a:latin typeface="Calibri"/>
              </a:rPr>
              <a:t>3.5–4.2 years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89320" y="5221217"/>
            <a:ext cx="5989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80760" y="527608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20-year NPV per site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46920" y="527608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86A1A"/>
                </a:solidFill>
                <a:latin typeface="Calibri"/>
              </a:rPr>
              <a:t>$2.1 million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89320" y="5742424"/>
            <a:ext cx="5989320" cy="47548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080760" y="57972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IRR (base case)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46920" y="57972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4A7C3F"/>
                </a:solidFill>
                <a:latin typeface="Calibri"/>
              </a:rPr>
              <a:t>24%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F5F0"/>
                </a:solidFill>
                <a:latin typeface="Calibri"/>
              </a:rPr>
              <a:t>AURORA  ·  Team SE7EN  ·  SRM Aaruush Hybrid Hack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F5F0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73152"/>
            <a:ext cx="12024360" cy="9144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Calibri"/>
              </a:rPr>
              <a:t>Go-to-Market Strategy: Four Parallel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B2G tenders for volume, B2B anchors for scale, green finance to eliminate CapEx barrier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987552"/>
            <a:ext cx="1097280" cy="4572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143000"/>
            <a:ext cx="5852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143000"/>
            <a:ext cx="502920" cy="256032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1488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B2G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21615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1A"/>
                </a:solidFill>
                <a:latin typeface="Calibri"/>
              </a:rPr>
              <a:t>B2G  — Government Tenders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618488"/>
            <a:ext cx="5166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PM-KUSUM · Smart Cities Mission · DISCOM hospital tenders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Mandatory backup power procurement for hospitals. MNRE PLI scheme eligibility for energy storage.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Fastest path to volume. Highest deal certainty.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143000"/>
            <a:ext cx="5852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143000"/>
            <a:ext cx="502920" cy="256032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488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B2B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21615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7C3F"/>
                </a:solidFill>
                <a:latin typeface="Calibri"/>
              </a:rPr>
              <a:t>B2B  — Telecom Anchor Deals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618488"/>
            <a:ext cx="5166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Jio · Airtel · Indus Towers · ATC India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One national framework agreement = 50,000 sites on a single contract. Tower companies buying in bulk, driven by ESG mandates.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Highest volume per deal. Fastest deployment.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840480"/>
            <a:ext cx="5852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840480"/>
            <a:ext cx="502920" cy="2560320"/>
          </a:xfrm>
          <a:prstGeom prst="rect">
            <a:avLst/>
          </a:prstGeom>
          <a:solidFill>
            <a:srgbClr val="2D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8463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DFI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91363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4A26"/>
                </a:solidFill>
                <a:latin typeface="Calibri"/>
              </a:rPr>
              <a:t>IFC / World Bank Green 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315968"/>
            <a:ext cx="5166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IFC Scaling Solar · World Bank ESMAP · ADB Green Climate Fund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Reduces customer CapEx to near zero — AURORA becomes a service. 'Zero CapEx, savings from Day 1.' Removes biggest sales objection.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840480"/>
            <a:ext cx="5852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840480"/>
            <a:ext cx="502920" cy="2560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8463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VCM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91363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Carbon Market Self-Funding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315968"/>
            <a:ext cx="5166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Gold Standard / Verra · India CCTS (launching 2026)</a:t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1C1C1C"/>
                </a:solidFill>
                <a:latin typeface="Calibri"/>
              </a:rPr>
              <a:t>Carbon credit revenue creates a self-funding growth loop. At 100 sites: $2.88M–$6M/yr funds next deployment without equity dilution.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F5F0"/>
                </a:solidFill>
                <a:latin typeface="Calibri"/>
              </a:rPr>
              <a:t>AURORA  ·  Team SE7EN  ·  SRM Aaruush Hybrid Hack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F5F0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73152"/>
            <a:ext cx="12024360" cy="9144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Calibri"/>
              </a:rPr>
              <a:t>Implementation Roadmap: Simulation to 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All hardware commercially available today — AURORA is a control + integration innovation, not unproven hardware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987552"/>
            <a:ext cx="1097280" cy="4572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143000"/>
            <a:ext cx="2834640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143000"/>
            <a:ext cx="2834640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170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NOW  ·  TRL 5–6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1554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6A1A"/>
                </a:solidFill>
                <a:latin typeface="Calibri"/>
              </a:rPr>
              <a:t>Simulation
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2212848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MATLAB/Simulink SimPowerSystems — full 5-source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2962656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OPAL-RT OP5700 HIL — real-time grid physics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3712464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Digital Twin JavaScript physics engine — live SCADA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4462272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Component specs from commercial datasheets (BYD, SMA, ABB)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5212080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ITAE error 0.042 rad — 21× better than PI-only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9544" y="1143000"/>
            <a:ext cx="2834640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9544" y="1143000"/>
            <a:ext cx="2834640" cy="347472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0984" y="1170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2026–27  ·  TRL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0984" y="1554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7C3F"/>
                </a:solidFill>
                <a:latin typeface="Calibri"/>
              </a:rPr>
              <a:t>100kW
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9272" y="2212848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Containerised pilot at hospital or telecom tower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9272" y="2962656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Tamil Nadu or Telangana — grid-connected island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9272" y="3712464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Live black-start demonstration (target: Q2 2027)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9272" y="4462272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OPAL-RT or NI HIL for hardware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5212080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MNRE pilot approval + carbon credit registration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0488" y="1143000"/>
            <a:ext cx="2834640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1143000"/>
            <a:ext cx="2834640" cy="347472"/>
          </a:xfrm>
          <a:prstGeom prst="rect">
            <a:avLst/>
          </a:prstGeom>
          <a:solidFill>
            <a:srgbClr val="2D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1170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2027–28  ·  TRL 8–9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1554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4A26"/>
                </a:solidFill>
                <a:latin typeface="Calibri"/>
              </a:rPr>
              <a:t>1MW
Commercial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2212848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Replication — same architecture, no redesign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2962656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Modular: 100kW containers, parallel stacking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3712464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Framework deals with telecom + hospital chains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4462272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Carbon credit portfolio: 10 sites = $288K–$600K/yr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5212080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Target: 50 sites by end 2028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71432" y="1143000"/>
            <a:ext cx="2834640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71432" y="1143000"/>
            <a:ext cx="28346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62872" y="1170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2028+  ·  TRL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1554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10MW
Scale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2212848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Pan-India + international (island markets)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2962656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Virtual Power Plant aggregation for POSOCO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3712464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AURORA-as-a-Platform (API for 3rd party integration)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4462272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Target: 1,000 sites by 2030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5212080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  <a:latin typeface="Calibri"/>
              </a:rPr>
              <a:t>→  2.4M tCO₂/yr avoided · 5–10M people with clean power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63240" y="3474720"/>
            <a:ext cx="18288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44184" y="3474720"/>
            <a:ext cx="18288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25128" y="3474720"/>
            <a:ext cx="18288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Calibri"/>
              </a:rPr>
              <a:t>12  · 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1,000 AURORA Sites Look Like by 2030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1828800" cy="4572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749039" cy="19202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749039" cy="36576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5087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A1A"/>
                </a:solidFill>
                <a:latin typeface="Calibri"/>
              </a:rPr>
              <a:t>2.4M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11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0"/>
                </a:solidFill>
                <a:latin typeface="Calibri"/>
              </a:rPr>
              <a:t>tonnes CO₂
avoided annually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1417320"/>
            <a:ext cx="3749039" cy="19202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1417320"/>
            <a:ext cx="3749039" cy="36576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15087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A7C3F"/>
                </a:solidFill>
                <a:latin typeface="Calibri"/>
              </a:rPr>
              <a:t>5–10M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2011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0"/>
                </a:solidFill>
                <a:latin typeface="Calibri"/>
              </a:rPr>
              <a:t>people with
clean reliable power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7888" y="1417320"/>
            <a:ext cx="3749039" cy="19202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417320"/>
            <a:ext cx="3749039" cy="36576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5087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A7C3F"/>
                </a:solidFill>
                <a:latin typeface="Calibri"/>
              </a:rPr>
              <a:t>520K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011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0"/>
                </a:solidFill>
                <a:latin typeface="Calibri"/>
              </a:rPr>
              <a:t>cars removed
from roads (equiv)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11880"/>
            <a:ext cx="3749039" cy="19202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611880"/>
            <a:ext cx="3749039" cy="36576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7033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A1A"/>
                </a:solidFill>
                <a:latin typeface="Calibri"/>
              </a:rPr>
              <a:t>₹10,000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20624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0"/>
                </a:solidFill>
                <a:latin typeface="Calibri"/>
              </a:rPr>
              <a:t>diesel import
savings for India/yr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1104" y="3611880"/>
            <a:ext cx="3749039" cy="19202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61104" y="3611880"/>
            <a:ext cx="3749039" cy="36576"/>
          </a:xfrm>
          <a:prstGeom prst="rect">
            <a:avLst/>
          </a:prstGeom>
          <a:solidFill>
            <a:srgbClr val="2D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61104" y="37033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D4A26"/>
                </a:solidFill>
                <a:latin typeface="Calibri"/>
              </a:rPr>
              <a:t>$156M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1104" y="420624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0"/>
                </a:solidFill>
                <a:latin typeface="Calibri"/>
              </a:rPr>
              <a:t>annual carbon
credit revenue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47888" y="3611880"/>
            <a:ext cx="3749039" cy="19202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47888" y="3611880"/>
            <a:ext cx="374903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7888" y="37033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0392B"/>
                </a:solidFill>
                <a:latin typeface="Calibri"/>
              </a:rPr>
              <a:t>380M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420624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0"/>
                </a:solidFill>
                <a:latin typeface="Calibri"/>
              </a:rPr>
              <a:t>litres diesel
eliminated annually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5943600"/>
            <a:ext cx="11887200" cy="74980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99846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86A1A"/>
                </a:solidFill>
                <a:latin typeface="Calibri"/>
              </a:rPr>
              <a:t>SDG 7: Affordable &amp; Clean Energy — 100% renewable at $0.11/kWh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79192" y="599846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7C3F"/>
                </a:solidFill>
                <a:latin typeface="Calibri"/>
              </a:rPr>
              <a:t>SDG 3: Good Health — hospital black-start at T+7s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8344" y="599846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7C3F"/>
                </a:solidFill>
                <a:latin typeface="Calibri"/>
              </a:rPr>
              <a:t>SDG 9: Industry &amp; Infrastructure — 8.2s fault recovery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97496" y="599846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4A26"/>
                </a:solidFill>
                <a:latin typeface="Calibri"/>
              </a:rPr>
              <a:t>SDG 13: Climate Action — 2,400 tCO₂/site/yr avoided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599846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86A1A"/>
                </a:solidFill>
                <a:latin typeface="Calibri"/>
              </a:rPr>
              <a:t>SDG 11: Sustainable Cities — urban microgrid diesel independence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F5F0"/>
                </a:solidFill>
                <a:latin typeface="Calibri"/>
              </a:rPr>
              <a:t>AURORA  ·  Team SE7EN  ·  SRM Aaruush Hybrid Hack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F5F0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73152"/>
            <a:ext cx="12024360" cy="9144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Calibri"/>
              </a:rPr>
              <a:t>Scalability &amp; Intellectual Property Moat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Same control architecture from 100kW to 10MW — no redesign. IP protects the moat.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987552"/>
            <a:ext cx="1097280" cy="4572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143000"/>
            <a:ext cx="11887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A1A"/>
                </a:solidFill>
                <a:latin typeface="Calibri"/>
              </a:rPr>
              <a:t>100 kW
Hospital / Tower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7C3F"/>
                </a:solidFill>
                <a:latin typeface="Calibri"/>
              </a:rPr>
              <a:t>1 MW
Industrial / Island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4A26"/>
                </a:solidFill>
                <a:latin typeface="Calibri"/>
              </a:rPr>
              <a:t>10 MW
Urban Microgrid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737360"/>
            <a:ext cx="11887200" cy="2286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1755648"/>
            <a:ext cx="3959352" cy="192024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87952" y="1755648"/>
            <a:ext cx="3959352" cy="192024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7304" y="1755648"/>
            <a:ext cx="3968496" cy="192024"/>
          </a:xfrm>
          <a:prstGeom prst="rect">
            <a:avLst/>
          </a:prstGeom>
          <a:solidFill>
            <a:srgbClr val="2D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20299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A8A8A"/>
                </a:solidFill>
                <a:latin typeface="Calibri"/>
              </a:rPr>
              <a:t>←  Same EMS firmware · Same VSG algorithm · Same SCADA protocol · Containers added in parallel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468880"/>
            <a:ext cx="5852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2468880"/>
            <a:ext cx="457200" cy="192024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4203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A1A"/>
                </a:solidFill>
                <a:latin typeface="Calibri"/>
              </a:rPr>
              <a:t>VSG + 3-Tier EMS
Co-Optimisation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127248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C1C1C"/>
                </a:solidFill>
                <a:latin typeface="Calibri"/>
              </a:rPr>
              <a:t>Patentable control architecture. The simultaneous optimisation of cost, CO₂ and resilience reserve is novel in the microgrid domain.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468880"/>
            <a:ext cx="5852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468880"/>
            <a:ext cx="457200" cy="192024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254203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7C3F"/>
                </a:solidFill>
                <a:latin typeface="Calibri"/>
              </a:rPr>
              <a:t>Custom Physics
Simulation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127248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C1C1C"/>
                </a:solidFill>
                <a:latin typeface="Calibri"/>
              </a:rPr>
              <a:t>Proprietary Digital Twin with live Kalman filter correction. Cross-validated against MATLAB — &lt; 0.07 Hz RMSE deviation.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526280"/>
            <a:ext cx="5852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4526280"/>
            <a:ext cx="457200" cy="1920240"/>
          </a:xfrm>
          <a:prstGeom prst="rect">
            <a:avLst/>
          </a:prstGeom>
          <a:solidFill>
            <a:srgbClr val="2D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59943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4A26"/>
                </a:solidFill>
                <a:latin typeface="Calibri"/>
              </a:rPr>
              <a:t>Cyber-Physical
Resilience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184648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C1C1C"/>
                </a:solidFill>
                <a:latin typeface="Calibri"/>
              </a:rPr>
              <a:t>Droop control responds to real physics — unaffected by SCADA cyberattack. Novel application for critical infrastructure.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526280"/>
            <a:ext cx="5852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526280"/>
            <a:ext cx="45720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459943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MATLAB-Validated
Parameter 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5184648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C1C1C"/>
                </a:solidFill>
                <a:latin typeface="Calibri"/>
              </a:rPr>
              <a:t>Years of VSG tuning embedded in constants. First-mover reference site creates sales proof for all subsequent deployments.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F5F0"/>
                </a:solidFill>
                <a:latin typeface="Calibri"/>
              </a:rPr>
              <a:t>AURORA  ·  Team SE7EN  ·  SRM Aaruush Hybrid Hack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F5F0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73152"/>
            <a:ext cx="12024360" cy="9144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C"/>
                </a:solidFill>
                <a:latin typeface="Calibri"/>
              </a:rPr>
              <a:t>The Ask: One Pilot. One Proof. One Market.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83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Calibri"/>
              </a:rPr>
              <a:t>AURORA is simulation-validated. The physics is proven. We need one hardware pilot.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987552"/>
            <a:ext cx="1097280" cy="4572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143000"/>
            <a:ext cx="5029200" cy="5394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143000"/>
            <a:ext cx="5029200" cy="4114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1704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💰  Funding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1664208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6A1A"/>
                </a:solidFill>
                <a:latin typeface="Calibri"/>
              </a:rPr>
              <a:t>₹1.77 Crore
(~$213,000)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4231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7C3F"/>
                </a:solidFill>
                <a:latin typeface="Calibri"/>
              </a:rPr>
              <a:t>What this funds:</a:t>
            </a:r>
          </a:p>
          <a:p>
            <a:pPr algn="l"/>
            <a:r>
              <a:rPr sz="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F5F5F0"/>
                </a:solidFill>
                <a:latin typeface="Calibri"/>
              </a:rPr>
              <a:t>→  100kW containerised Li-ion BESS + VRFB pilot unit</a:t>
            </a:r>
          </a:p>
          <a:p>
            <a:pPr algn="l"/>
            <a:r>
              <a:rPr sz="900" b="0">
                <a:solidFill>
                  <a:srgbClr val="F5F5F0"/>
                </a:solidFill>
                <a:latin typeface="Calibri"/>
              </a:rPr>
              <a:t>→  Grid-Forming Inverter (SMA or Schneider Electric)</a:t>
            </a:r>
          </a:p>
          <a:p>
            <a:pPr algn="l"/>
            <a:r>
              <a:rPr sz="900" b="0">
                <a:solidFill>
                  <a:srgbClr val="F5F5F0"/>
                </a:solidFill>
                <a:latin typeface="Calibri"/>
              </a:rPr>
              <a:t>→  OPAL-RT or NI HIL hardware for real-time validation</a:t>
            </a:r>
          </a:p>
          <a:p>
            <a:pPr algn="l"/>
            <a:r>
              <a:rPr sz="900" b="0">
                <a:solidFill>
                  <a:srgbClr val="F5F5F0"/>
                </a:solidFill>
                <a:latin typeface="Calibri"/>
              </a:rPr>
              <a:t>→  Solar PV (50kWp for pilot)</a:t>
            </a:r>
          </a:p>
          <a:p>
            <a:pPr algn="l"/>
            <a:r>
              <a:rPr sz="900" b="0">
                <a:solidFill>
                  <a:srgbClr val="F5F5F0"/>
                </a:solidFill>
                <a:latin typeface="Calibri"/>
              </a:rPr>
              <a:t>→  EMS software deployment and commissioning</a:t>
            </a:r>
          </a:p>
          <a:p>
            <a:pPr algn="l"/>
            <a:r>
              <a:rPr sz="900" b="0">
                <a:solidFill>
                  <a:srgbClr val="F5F5F0"/>
                </a:solidFill>
                <a:latin typeface="Calibri"/>
              </a:rPr>
              <a:t>→  MNRE approval + carbon credit MRV registration</a:t>
            </a:r>
          </a:p>
          <a:p>
            <a:pPr algn="l"/>
            <a:r>
              <a:rPr sz="5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 b="1">
                <a:solidFill>
                  <a:srgbClr val="4A7C3F"/>
                </a:solidFill>
                <a:latin typeface="Calibri"/>
              </a:rPr>
              <a:t>Timeline:</a:t>
            </a:r>
          </a:p>
          <a:p>
            <a:pPr algn="l"/>
            <a:r>
              <a:rPr sz="1000" b="0">
                <a:solidFill>
                  <a:srgbClr val="E86A1A"/>
                </a:solidFill>
                <a:latin typeface="Calibri"/>
              </a:rPr>
              <a:t>Live black-start demonstration by Q2 2027</a:t>
            </a:r>
          </a:p>
          <a:p>
            <a:pPr algn="l"/>
            <a:r>
              <a:rPr sz="5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00" b="1">
                <a:solidFill>
                  <a:srgbClr val="4A7C3F"/>
                </a:solidFill>
                <a:latin typeface="Calibri"/>
              </a:rPr>
              <a:t>Site:</a:t>
            </a:r>
          </a:p>
          <a:p>
            <a:pPr algn="l"/>
            <a:r>
              <a:rPr sz="950" b="0">
                <a:solidFill>
                  <a:srgbClr val="F5F5F0"/>
                </a:solidFill>
                <a:latin typeface="Calibri"/>
              </a:rPr>
              <a:t>Hospital or telecom tower in Tamil Nadu / Telangana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143000"/>
            <a:ext cx="64922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1143000"/>
            <a:ext cx="6492240" cy="347472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1170432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🎯  What Investors / Partners 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1572768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First-mover position in a ₹1,500 Cr+ India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1956816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Carbon credit revenue from Day 1 of pilot operation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340864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Proof-of-concept from India's first renewable-only black-start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724912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Technology that makes every future renewable installation more resilient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108960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✓  24% IRR base case · $2.1M NPV per site over 20 years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840480"/>
            <a:ext cx="64922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0" y="3840480"/>
            <a:ext cx="6492240" cy="34747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3867912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⏰  Why 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251960"/>
            <a:ext cx="6309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→  India CCTS (Carbon Credit Trading Scheme) launches 2026 — price tailwind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4681728"/>
            <a:ext cx="6309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→  MNRE mandating storage in all new microgrid tenders from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111496"/>
            <a:ext cx="6309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→  Telecom towers flagged as diesel stranded assets (2024 ESG audits)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5541264"/>
            <a:ext cx="6309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→  PM-KUSUM Phase 3: ₹34,000 Cr disbursing for off-grid renewable installs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5971032"/>
            <a:ext cx="6309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C"/>
                </a:solidFill>
                <a:latin typeface="Calibri"/>
              </a:rPr>
              <a:t>→  The Inverter Paradox worsens as India installs more solar — AURORA's value compounds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D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86A1A"/>
                </a:solidFill>
                <a:latin typeface="Calibri"/>
              </a:rPr>
              <a:t>AURORA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55648"/>
            <a:ext cx="5486400" cy="54864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F5F0"/>
                </a:solidFill>
                <a:latin typeface="Calibri"/>
              </a:rPr>
              <a:t>"The world has needed a renewable-only black-start solution since the Inverter
Paradox was identified in the 1990s. AURORA is the first system to solve it."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2194560" cy="1371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834640"/>
            <a:ext cx="2194560" cy="54864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94436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A1A"/>
                </a:solidFill>
                <a:latin typeface="Calibri"/>
              </a:rPr>
              <a:t>&lt; 90s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54787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0"/>
                </a:solidFill>
                <a:latin typeface="Calibri"/>
              </a:rPr>
              <a:t>Grid restart
no diesel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4912" y="2834640"/>
            <a:ext cx="2194560" cy="1371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24912" y="2834640"/>
            <a:ext cx="2194560" cy="54864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294436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7C3F"/>
                </a:solidFill>
                <a:latin typeface="Calibri"/>
              </a:rPr>
              <a:t>5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354787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0"/>
                </a:solidFill>
                <a:latin typeface="Calibri"/>
              </a:rPr>
              <a:t>Solar·Wind·Geo
H₂·Storage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4064" y="2834640"/>
            <a:ext cx="2194560" cy="1371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2834640"/>
            <a:ext cx="2194560" cy="54864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294436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A1A"/>
                </a:solidFill>
                <a:latin typeface="Calibri"/>
              </a:rPr>
              <a:t>$2.1M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354787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0"/>
                </a:solidFill>
                <a:latin typeface="Calibri"/>
              </a:rPr>
              <a:t>NPV per site
20-year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43216" y="2834640"/>
            <a:ext cx="2194560" cy="1371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43216" y="2834640"/>
            <a:ext cx="2194560" cy="54864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6" y="294436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7C3F"/>
                </a:solidFill>
                <a:latin typeface="Calibri"/>
              </a:rPr>
              <a:t>2,400t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354787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0"/>
                </a:solidFill>
                <a:latin typeface="Calibri"/>
              </a:rPr>
              <a:t>CO₂ avoided
per site/yr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02368" y="2834640"/>
            <a:ext cx="2194560" cy="1371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02368" y="2834640"/>
            <a:ext cx="2194560" cy="54864"/>
          </a:xfrm>
          <a:prstGeom prst="rect">
            <a:avLst/>
          </a:prstGeom>
          <a:solidFill>
            <a:srgbClr val="2D4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02368" y="294436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4A26"/>
                </a:solidFill>
                <a:latin typeface="Calibri"/>
              </a:rPr>
              <a:t>3–5 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8" y="354787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F5F0"/>
                </a:solidFill>
                <a:latin typeface="Calibri"/>
              </a:rPr>
              <a:t>Payback with
carbon credits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434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Every component is commercially available today. AURORA is ready for a 100kW pilot deployment.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074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1A"/>
                </a:solidFill>
                <a:latin typeface="Calibri"/>
              </a:rPr>
              <a:t>Team SE7EN  ·  Panshul Arora  ·  Aarati Deshmukh  ·  Tanmay Singh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486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8A8A"/>
                </a:solidFill>
                <a:latin typeface="Calibri"/>
              </a:rPr>
              <a:t>Problem Statement 3: Black-Start Microgrid  ·  SRM Aaruush Hybrid Hack 2026  ·  Round 3 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