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" y="-128016"/>
            <a:ext cx="5285232" cy="5285232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5029200" cy="502920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6" name="Oval 5"/>
          <p:cNvSpPr/>
          <p:nvPr/>
        </p:nvSpPr>
        <p:spPr>
          <a:xfrm>
            <a:off x="10405872" y="109728"/>
            <a:ext cx="438912" cy="438912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25912" y="-137160"/>
            <a:ext cx="1325880" cy="132588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0" y="1417320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67728" y="1161288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42048" y="1097280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8229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Team SE7EN  ·  SRM Aaruush Hybrid Hack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Carbon-Zero Black-Start · Problem Statement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828800"/>
            <a:ext cx="6217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0D0D0D"/>
                </a:solidFill>
                <a:latin typeface="Calibri"/>
              </a:rPr>
              <a:t>AURORA</a:t>
            </a:r>
          </a:p>
          <a:p>
            <a:r>
              <a:rPr sz="4600" b="1" i="0">
                <a:solidFill>
                  <a:srgbClr val="0D0D0D"/>
                </a:solidFill>
                <a:latin typeface="Calibri"/>
              </a:rPr>
              <a:t>Pitch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"Autonomous Unified Renewable Orchestration for Resilient Activation"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Calibri"/>
              </a:rPr>
              <a:t>github.com/panshularora/aurora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4005072"/>
            <a:ext cx="2359152" cy="1719072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4315968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Presented By: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681728"/>
            <a:ext cx="21762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Panshul Arora
Team SE7EN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9572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004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6187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475488" y="352044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@team_se7en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749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88"/>
                </a:solidFill>
                <a:latin typeface="Calibri"/>
              </a:rPr>
              <a:t>"No renewable system can restart a dead grid from scratch"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20700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0D0D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Puerto Rico, 2017 — Hurricane Maria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90 days without power. 3,057 deaths from preventable causes. 1.5 GW of solar automatically disconnected due to IEEE 1547 — the Inverter Paradox struck at full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Cyclone Michaung, India — December 2023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11 days without power. 4 million affected. King Institute spent ₹28 lakh on diesel in 9 days. 5.2 GW of Tamil Nadu solar shut off automatically. Renewable energy was present — and legally couldn't help.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09728"/>
            <a:ext cx="4160520" cy="6638544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09728"/>
            <a:ext cx="4160520" cy="663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7872" y="2560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6053328"/>
            <a:ext cx="1170432" cy="1170432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548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D0D0D"/>
                </a:solidFill>
                <a:latin typeface="Calibri"/>
              </a:rPr>
              <a:t>Our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"/>
            <a:ext cx="4133087" cy="267004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91440"/>
            <a:ext cx="4133087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1704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" y="3310128"/>
            <a:ext cx="3749039" cy="248716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3310128"/>
            <a:ext cx="3749039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github.com/panshularora/aurora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Renewable-Only Black-Start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Grid-Forming Inverter creates 400V/50Hz on a dead bus using only battery power. No diesel. No external reference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Virtual Synchronous Generator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VSG injects H=5–10s synthetic inertia, preventing frequency collapse. Hospitals restored at T+7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03. 3-Tier Autonomous EMS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Primary droop &lt;100ms → Secondary restore 1–30s → MPC optimal dispatch &gt;30s. 21× better than PI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04. 5-Source Hybrid Generation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Solar 500kWp + Wind 300kW + Geothermal 200kW + H₂ 150kW + 2MWh Storage. 100% renewable, zero gap.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37160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21408" y="-118872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95728" y="-182880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65836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5029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90-Second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Black-Start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09728"/>
            <a:ext cx="4251960" cy="260604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"/>
            <a:ext cx="4251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20700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" y="3547872"/>
            <a:ext cx="3794760" cy="2450592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3547872"/>
            <a:ext cx="379476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T+0–5s: Pre-Start Assessment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EMS reads battery SoC &gt;15%. Inverter self-test &amp; pre-charge. Protection relays set to island mode.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T+5–30s: Voltage Establishment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GFI energises 400V/50Hz bus from scratch. VSG injects virtual inertia. f = 50Hz ±0.2Hz achieved.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T+30–60s: Critical Load Energisation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Hospitals, water, comms connected in 5kW steps / 500ms. Geothermal &amp; H₂ come online in parallel.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T+60–90s: Full Restoration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All 5 sources live. EMS switches to MPC dispatch. All loads energised. f = 50.00Hz stable. IEEE 1547 PASS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13464" y="411480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30352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Five-Source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834640"/>
            <a:ext cx="3611880" cy="274320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283464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43484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Solar PV — 500 kWp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22.8% efficiency · ~800 MWh/yr. Establishes initial bus voltage on startup via GFI.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Wind DFIG — 300 kW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3 × 100kW · ~35% CF. Peaks at night &amp; winter, raising combined CF to ~55%.</a:t>
            </a:r>
          </a:p>
        </p:txBody>
      </p:sp>
      <p:sp>
        <p:nvSpPr>
          <p:cNvPr id="20" name="Oval 19"/>
          <p:cNvSpPr/>
          <p:nvPr/>
        </p:nvSpPr>
        <p:spPr>
          <a:xfrm>
            <a:off x="4069080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Geothermal ORC — 200 kW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90%+ capacity factor · 24/7 baseload. Weather-independent — solves dark doldrums.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H₂ PEM + Hybrid Storage — 2 MWh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150kW fuel cell + Li-ion 1.2MWh + VRFB 0.8MWh. Black-start from 15% SoC.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9572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004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6187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475488" y="352044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@team_se7en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749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88"/>
                </a:solidFill>
                <a:latin typeface="Calibri"/>
              </a:rPr>
              <a:t>"Every number is live physics — not pre-baked values"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20700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0D0D"/>
                </a:solidFill>
                <a:latin typeface="Calibri"/>
              </a:rPr>
              <a:t>Simulation
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Frequency &amp; Voltage Recovery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0 → 50Hz and 0 → 400V in 14 seconds. ±0.03Hz steady-state (16× better than IEEE 1547 standard). Hospital restored at T+7s — 23s ahead of target.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Grid Fault Response &amp; Battery Analysis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External grid disconnect → full 50Hz recovery in 8.2 seconds. ROCOF 1.2 Hz/s. Li-ion: 15% → 11% → 26% (recharge). VRFB steady at 78%. Composite efficiency: 89.3%.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09728"/>
            <a:ext cx="4160520" cy="6638544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09728"/>
            <a:ext cx="4160520" cy="663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7872" y="2560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6053328"/>
            <a:ext cx="1170432" cy="1170432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548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D0D0D"/>
                </a:solidFill>
                <a:latin typeface="Calibri"/>
              </a:rPr>
              <a:t>Control
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"/>
            <a:ext cx="4133087" cy="267004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91440"/>
            <a:ext cx="4133087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1704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" y="3310128"/>
            <a:ext cx="3749039" cy="248716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3310128"/>
            <a:ext cx="3749039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github.com/panshularora/aurora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Tier 1 — Primary Droop (&lt;100ms)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VSG emulation arrests frequency deviation instantly. 4-stage UFLS sheds non-critical loads only. Hospital (P1) is never shed.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Tier 2 — Secondary Restoration (1–30s)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PI controller drives frequency back to exactly 50.00Hz. Synchronises additional sources as they come online.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03. Tier 3 — MPC Optimal Dispatch (&gt;30s)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Simultaneously minimises LCOE, CO₂ and battery degradation. ITAE error 0.042 rad vs 0.89 rad PI-only (21× improvement).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04. Cyber-Physical Resilience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Droop responds to real physics, not digital commands. A SCADA cyberattack cannot collapse the grid — unique for critical infrastructure.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37160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21408" y="-118872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95728" y="-182880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65836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5029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Business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09728"/>
            <a:ext cx="4251960" cy="260604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"/>
            <a:ext cx="4251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20700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" y="3547872"/>
            <a:ext cx="3794760" cy="2450592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3547872"/>
            <a:ext cx="379476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EMS-as-a-Service (SaaS)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$8K–$15K / site / year · ~85% gross margin · 10+ year contracts. Same software 100kW to 10MW — no re-licensing ever.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Carbon Credits (VCM)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2,400 tCO₂ avoided / site / year. $28,800–$60,000/yr per site. India CCTS launches 2026 — domestic carbon price tailwind.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Grid Ancillary Services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VSG droop bids into POSOCO frequency regulation market. $6K–$10K / site / year. Zero additional hardware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Total: $43K–$85K / Site / Year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At 100 sites: $4.3M–$8.5M ARR. Carbon credit self-funding loop — 100 sites generate $2.88M–$6M/yr for next deployment.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13464" y="411480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30352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Market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834640"/>
            <a:ext cx="3611880" cy="274320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283464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43484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TAM — $47 Billion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Global off-grid &amp; microgrid market by 2030 (IRENA / BloombergNEF). Diesel-replacement wave accelerating globally.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SAM — $12 Billion (India)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90,000 off-grid telecom towers + 100,000+ villages + hospital mandates. All need 100% uptime backup.</a:t>
            </a:r>
          </a:p>
        </p:txBody>
      </p:sp>
      <p:sp>
        <p:nvSpPr>
          <p:cNvPr id="20" name="Oval 19"/>
          <p:cNvSpPr/>
          <p:nvPr/>
        </p:nvSpPr>
        <p:spPr>
          <a:xfrm>
            <a:off x="4069080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Hospitals &amp; Healthcare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12,000+ hospitals requiring NABH-compliant backup power within 30 seconds. ₹25–40 lakh current diesel install per site.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Telecom Towers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One Jio / Airtel / Indus Towers framework deal = 50,000 sites on a single contract. ESG mandates driving demand now.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9572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004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6187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475488" y="352044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@team_se7en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749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88"/>
                </a:solidFill>
                <a:latin typeface="Calibri"/>
              </a:rPr>
              <a:t>"3–5 year payback. 72% LCOE reduction vs diesel. 24% IRR."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20700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0D0D"/>
                </a:solidFill>
                <a:latin typeface="Calibri"/>
              </a:rPr>
              <a:t>Financial
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CAPEX &amp; Payback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100kW pilot: ₹1.77 Crore (~$213K) — Li-ion BESS + VRFB + GFI Inverter + Solar + EMS. Simple payback 5.2 yrs. With carbon credits ($28K–$60K/yr): 3.5–4.2 years. IRR: 24%.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LCOE &amp; 20-Year NPV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AURORA: $0.11/kWh vs Diesel: $0.35–0.50/kWh — 72% cheaper per kWh. Annual savings $240,000 for a 500kW site. 20-year NPV per site: $2.1 million.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09728"/>
            <a:ext cx="4160520" cy="6638544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09728"/>
            <a:ext cx="4160520" cy="663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7872" y="2560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6053328"/>
            <a:ext cx="1170432" cy="1170432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54864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D0D0D"/>
                </a:solidFill>
                <a:latin typeface="Calibri"/>
              </a:rPr>
              <a:t>Go-to-Market
Strategy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"/>
            <a:ext cx="4133087" cy="267004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91440"/>
            <a:ext cx="4133087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41648" y="117043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" y="3310128"/>
            <a:ext cx="3749039" cy="2487168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3310128"/>
            <a:ext cx="3749039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6263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github.com/panshularora/aurora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B2G — Government Tenders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PM-KUSUM · Smart Cities Mission · DISCOM hospital tenders. MNRE PLI eligibility. Mandatory backup power procurement for hospitals.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73552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B2B — Telecom Anchor Deals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One Jio/Airtel/Indus Towers framework deal = 50,000 sites. Tower companies buying in bulk, driven by 2030 ESG mandates.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03. IFC / World Bank Green Finance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IFC Scaling Solar + World Bank ESMAP reduce customer CapEx to zero. 'Zero CapEx, savings from Day 1' — removes biggest objection.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7091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04. Carbon Market Self-Funding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Carbon revenue at 100 sites: $2.88M–$6M/yr funds next cohort without equity dilution. A self-sustaining growth loop.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37160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21408" y="-118872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95728" y="-182880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65836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5029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Implementation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09728"/>
            <a:ext cx="4251960" cy="260604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"/>
            <a:ext cx="42519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207008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" y="3547872"/>
            <a:ext cx="3794760" cy="2450592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3547872"/>
            <a:ext cx="3794760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NOW — TRL 5–6 (Simulation Validated)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MATLAB/Simulink + OPAL-RT HIL validated. Digital Twin live. Commercial datasheets locked. Submission 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175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2026–27 — TRL 7 (100kW Pilot)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Containerised pilot at hospital or telecom tower, Tamil Nadu / Telangana. Live black-start demo by Q2 2027.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2027–28 — TRL 8–9 (1MW Commercial)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Framework deals — telecom + hospitals. 10 sites = $288K–$600K/yr carbon ARR. Same architecture, no redesign.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● 2028+ — TRL 9 (10MW Scale)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1,000 sites by 2030. Virtual Power Plant. Pan-India + island markets. 2.4M tCO₂/yr avoided at full scale.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3172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4144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1576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13464" y="411480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30352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D0D0D"/>
                </a:solidFill>
                <a:latin typeface="Calibri"/>
              </a:rPr>
              <a:t>Impact @</a:t>
            </a:r>
          </a:p>
          <a:p>
            <a:r>
              <a:rPr sz="4000" b="1" i="0">
                <a:solidFill>
                  <a:srgbClr val="0D0D0D"/>
                </a:solidFill>
                <a:latin typeface="Calibri"/>
              </a:rPr>
              <a:t>1,000 Sites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2834640"/>
            <a:ext cx="3611880" cy="2743200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283464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434840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69080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2.4 Million tCO₂ / Year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Equivalent to removing 520,000 cars from roads annually. IPCC 1.5°C pathway compliant.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566928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7" y="603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207008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5–10 Million People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With reliable, clean power by 2030. SDG 7 (Energy), SDG 3 (Health), SDG 13 (Climate).</a:t>
            </a:r>
          </a:p>
        </p:txBody>
      </p:sp>
      <p:sp>
        <p:nvSpPr>
          <p:cNvPr id="20" name="Oval 19"/>
          <p:cNvSpPr/>
          <p:nvPr/>
        </p:nvSpPr>
        <p:spPr>
          <a:xfrm>
            <a:off x="4069080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7368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₹10,000 Crore Saved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In diesel import costs for India annually at full 1,000-site scale. Strategic energy security.</a:t>
            </a:r>
          </a:p>
        </p:txBody>
      </p:sp>
      <p:sp>
        <p:nvSpPr>
          <p:cNvPr id="23" name="Oval 22"/>
          <p:cNvSpPr/>
          <p:nvPr/>
        </p:nvSpPr>
        <p:spPr>
          <a:xfrm>
            <a:off x="7955279" y="3017520"/>
            <a:ext cx="548640" cy="548640"/>
          </a:xfrm>
          <a:prstGeom prst="ellipse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6576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$156 Million ARR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In carbon credit revenue across the portfolio. Zero additional CapEx — inherent to each deployment.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" y="-201168"/>
            <a:ext cx="960120" cy="96012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" y="201168"/>
            <a:ext cx="713232" cy="713232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0" y="164592"/>
            <a:ext cx="384048" cy="164592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95728" y="-91440"/>
            <a:ext cx="201168" cy="384048"/>
          </a:xfrm>
          <a:prstGeom prst="ellipse">
            <a:avLst/>
          </a:prstGeom>
          <a:solidFill>
            <a:srgbClr val="F5A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0048" y="-155448"/>
            <a:ext cx="201168" cy="384048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261872"/>
            <a:ext cx="530352" cy="274320"/>
          </a:xfrm>
          <a:prstGeom prst="roundRect">
            <a:avLst>
              <a:gd name="adj" fmla="val 50000"/>
            </a:avLst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475488" y="352044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81944" y="5321808"/>
            <a:ext cx="1143000" cy="1463040"/>
          </a:xfrm>
          <a:prstGeom prst="roundRect">
            <a:avLst>
              <a:gd name="adj" fmla="val 50000"/>
            </a:avLst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82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Calibri"/>
              </a:rPr>
              <a:t>Team SE7EN  ·  AURORA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@team_se7en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749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88"/>
                </a:solidFill>
                <a:latin typeface="Calibri"/>
              </a:rPr>
              <a:t>"AURORA is simulation-validated. The physics is proven. We need one pilot."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207008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D0D0D"/>
                </a:solidFill>
                <a:latin typeface="Calibri"/>
              </a:rPr>
              <a:t>The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01. ₹1.77 Crore (~$213,000) — 100kW Pilot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Funds: Li-ion BESS + VRFB + Grid-Forming Inverter + Solar 50kWp + EMS software + commissioning + MNRE approval + carbon credit MRV registration. Site: Hospital or telecom tower, Tamil Nadu / Telangana. Timeline: Live black-start demo Q2 2027.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657600"/>
            <a:ext cx="3520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D0D0D"/>
                </a:solidFill>
                <a:latin typeface="Calibri"/>
              </a:rPr>
              <a:t>02. What Partners / Investors Get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444444"/>
                </a:solidFill>
                <a:latin typeface="Calibri"/>
              </a:rPr>
              <a:t>24% IRR · $2.1M NPV per site · Carbon credits from Day 1 · First-mover equity in ₹1,500 Cr+ India market · Proof-of-concept from India's first renewable-only black-start demonstration.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109728"/>
            <a:ext cx="4160520" cy="6638544"/>
          </a:xfrm>
          <a:prstGeom prst="roundRect">
            <a:avLst>
              <a:gd name="adj" fmla="val 20000"/>
            </a:avLst>
          </a:prstGeom>
          <a:solidFill>
            <a:srgbClr val="F0F0F0"/>
          </a:solidFill>
          <a:ln w="38100">
            <a:solidFill>
              <a:srgbClr val="E862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09728"/>
            <a:ext cx="4160520" cy="6638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75488" y="4457700"/>
            <a:ext cx="960120" cy="960120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Team SE7EN  ·  SRM Aaruush Hybrid Hack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389888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D0D0D"/>
                </a:solidFill>
                <a:latin typeface="Calibri"/>
              </a:rPr>
              <a:t>Thank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2606040"/>
            <a:ext cx="4114800" cy="54864"/>
          </a:xfrm>
          <a:prstGeom prst="rect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2788920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44444"/>
                </a:solidFill>
                <a:latin typeface="Calibri"/>
              </a:rPr>
              <a:t>"Help us put the first 100kW pilot in a hospital. AURORA will do the rest."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3977639"/>
            <a:ext cx="1993392" cy="1353312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406908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E8620C"/>
                </a:solidFill>
                <a:latin typeface="Calibri"/>
              </a:rPr>
              <a:t>&lt; 90s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4617720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Grid restart
no diesel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3977639"/>
            <a:ext cx="1993392" cy="1353312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06908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D0D0D"/>
                </a:solidFill>
                <a:latin typeface="Calibri"/>
              </a:rPr>
              <a:t>$2.1M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4617720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20-yr NPV
per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3712" y="3977639"/>
            <a:ext cx="1993392" cy="1353312"/>
          </a:xfrm>
          <a:prstGeom prst="roundRect">
            <a:avLst>
              <a:gd name="adj" fmla="val 15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069080"/>
            <a:ext cx="19933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A6E72"/>
                </a:solidFill>
                <a:latin typeface="Calibri"/>
              </a:rPr>
              <a:t>Zero CO₂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617720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Lifetime
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555955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Calibri"/>
              </a:rPr>
              <a:t>Panshul Arora  ·  Aarati Deshmukh  ·  Tanmay Singh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59893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PS3: Black-Start Microgrid  ·  Hybrid Hack 2026  ·  Round 3 Final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-128016"/>
            <a:ext cx="5696712" cy="5696712"/>
          </a:xfrm>
          <a:prstGeom prst="ellipse">
            <a:avLst/>
          </a:prstGeom>
          <a:solidFill>
            <a:srgbClr val="E862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40" y="0"/>
            <a:ext cx="5440680" cy="544068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8888"/>
                </a:solidFill>
                <a:latin typeface="Calibri"/>
              </a:rPr>
              <a:t>[ image ]</a:t>
            </a:r>
          </a:p>
        </p:txBody>
      </p:sp>
      <p:sp>
        <p:nvSpPr>
          <p:cNvPr id="22" name="Oval 21"/>
          <p:cNvSpPr/>
          <p:nvPr/>
        </p:nvSpPr>
        <p:spPr>
          <a:xfrm>
            <a:off x="10405872" y="109728"/>
            <a:ext cx="438912" cy="438912"/>
          </a:xfrm>
          <a:prstGeom prst="ellipse">
            <a:avLst/>
          </a:prstGeom>
          <a:solidFill>
            <a:srgbClr val="1A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25912" y="-137160"/>
            <a:ext cx="1325880" cy="1325880"/>
          </a:xfrm>
          <a:prstGeom prst="ellipse">
            <a:avLst/>
          </a:prstGeom>
          <a:solidFill>
            <a:srgbClr val="C9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74552" y="65105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